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-318" y="-102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7A6DEF-80B5-4F07-8CF2-1E27782774B0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 smtClean="0"/>
              <a:t>Kliknij, aby edytować style wzorca tekstu</a:t>
            </a:r>
          </a:p>
          <a:p>
            <a:pPr lvl="1"/>
            <a:r>
              <a:rPr lang="pl-PL" smtClean="0"/>
              <a:t>Drugi poziom</a:t>
            </a:r>
          </a:p>
          <a:p>
            <a:pPr lvl="2"/>
            <a:r>
              <a:rPr lang="pl-PL" smtClean="0"/>
              <a:t>Trzeci poziom</a:t>
            </a:r>
          </a:p>
          <a:p>
            <a:pPr lvl="3"/>
            <a:r>
              <a:rPr lang="pl-PL" smtClean="0"/>
              <a:t>Czwarty poziom</a:t>
            </a:r>
          </a:p>
          <a:p>
            <a:pPr lvl="4"/>
            <a:r>
              <a:rPr lang="pl-PL" smtClean="0"/>
              <a:t>Piąty poziom</a:t>
            </a:r>
            <a:endParaRPr lang="en-US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7F0855-3BD6-45BD-B402-C6411E151A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327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685800"/>
            <a:ext cx="777240" cy="777240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858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KWALIFIKACJA INF.03 · CZĘŚĆ 4: KONTYNUACJA KURSU JAVASCRIPT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10241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Funkcje wbudowane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zasięg zmiennych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25196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 · konwersja i metody tekstowe · zasięg globalny, lokalny i blokowy · łańcuch zasięgu · ćwiczenia praktyczne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ZAJĘĆ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Czego się dzisiaj nauczymy?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173736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Przypomnienie z części 1–3 kursu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5623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7269480" y="1874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 wbudowane – obiekt Math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8580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173736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 wbudowane – konwersja i tekst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320040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36499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400" dirty="0"/>
          </a:p>
        </p:txBody>
      </p:sp>
      <p:sp>
        <p:nvSpPr>
          <p:cNvPr id="17" name="Text 15"/>
          <p:cNvSpPr txBox="1"/>
          <p:nvPr/>
        </p:nvSpPr>
        <p:spPr>
          <a:xfrm>
            <a:off x="7269480" y="338328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zmiennych – globalny, lokalny, blokowy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173736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Łańcuch zasięgu i typowe błędy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4709160"/>
            <a:ext cx="52120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4F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4873752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3E6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400" dirty="0"/>
          </a:p>
        </p:txBody>
      </p:sp>
      <p:sp>
        <p:nvSpPr>
          <p:cNvPr id="23" name="Text 21"/>
          <p:cNvSpPr txBox="1"/>
          <p:nvPr/>
        </p:nvSpPr>
        <p:spPr>
          <a:xfrm>
            <a:off x="7269480" y="489204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praktyczne (6 zadań)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↻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PRZYPOMNIENIE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pamiętamy z poprzednich części kursu?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1: zmienne, typy danych i operatory. Część 2: instrukcje sterujące (if/else, switch, pętle).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Część 3: funkcje – deklaracje, parametry, return, wyrażenia funkcyjne i funkcje strzałkowe; wspomnieliśmy też krótko o zasięgu lokalnym i globalnym.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tej pory sami pisaliśmy każdy fragment logiki od podstaw – nawet proste operacje, jak zaokrąglenie liczby czy zamiana tekstu na wielkie litery.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Dziś poznamy gotowe, wbudowane funkcje JavaScript, które robią to za nas, oraz dokładnie przyjrzymy się zasięgowi zmiennych – czyli temu, gdzie dana zmienna jest „widoczna” w programie.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14400" y="562356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zmiennych to temat, który wraca przy każdym kolejnym zagadnieniu kursu – dobre zrozumienie go dziś ułatwi naukę tablic, obiektów i obsługi zdarzeń.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Czym są funkcje wbudowane?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Funkcje wbudowane (ang. built-in functions) to funkcje dostarczone razem z językiem JavaScript – nie musimy ich sami pisać, wystarczy je wywołać.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Są zorganizowane w grupy tematyczne (tzw. obiekty globalne), np. Math (matematyka), Number i String (konwersja i praca z tekstem).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Zostały napisane, przetestowane i zoptymalizowane przez twórców języka – korzystanie z nich jest szybsze i bezpieczniejsze niż pisanie własnego odpowiednika od zera.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Analogia: to jak gotowe narzędzia w skrzynce narzędziowej – zamiast produkować własny śrubokręt, sięgamy po ten, który już istnieje i działa niezawodnie.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Funkcje wbudowane – obiekt Math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Zaokrąglanie, wartość bezwzględna, potęgowanie i losowanie liczb.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R()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Zaokrąglanie liczb – round, floor, ceil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to wbudowany obiekt JavaScript, który udostępnia gotowe funkcje (metody) do obliczeń matematycznych.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Math.round(x) zaokrągla liczbę do najbliższej liczby całkowitej (dokładnie 0.5 zaokrągla w górę).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Math.floor(x) zawsze zaokrągla w dół, a Math.ceil(x) zawsze w górę – niezależnie od części dziesiętnej.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musimy pisać własnego kodu do zaokrąglania – korzystamy z gotowych, przetestowanych funkcji wbudowanych.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math_zaokraglanie.js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Math.round() - zaokragla do najblizszej liczby calkowitej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console.log(Math.round(4.5)); // 5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console.log(Math.round(4.4)); // 4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Math.floor() - zawsze "w dol"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console.log(Math.floor(4.9)); // 4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Math.ceil() - zawsze "w gore"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console.log(Math.ceil(4.1)); // 5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|x|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Wartość bezwzględna oraz max i min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Math.abs(x) zwraca wartość bezwzględną liczby – „usuwa” znak minus.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Przydatne np. przy obliczaniu różnicy dwóch wartości, gdy nie wiadomo z góry, która jest większa.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Math.max() i Math.min() przyjmują dowolną liczbę argumentów i zwracają odpowiednio największą lub najmniejszą z nich.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zwykłe funkcje wywoływane z pojedynczymi liczbami – działanie na całej tablicy liczb poznamy przy okazji tablic.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math_abs_max_min.js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Math.abs() - wartosc bezwzgledna (zawsze dodatnia)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console.log(Math.abs(-7)); // 7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console.log(Math.abs(7));  // 7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Math.max() i Math.min() - najwieksza / najmniejsza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 podanych liczb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console.log(Math.max(3, 7, 2)); // 7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console.log(Math.min(3, 7, 2)); // 2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^n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Potęgowanie i pierwiastkowanie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Math.pow(podstawa, wykładnik) podnosi liczbę do potęgi – np. Math.pow(2, 10) to 2 do potęgi 10.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 kilku lat dostępny jest też krótszy, nowoczesny operator ** , działający dokładnie tak samo: 2 ** 10.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Math.sqrt(x) oblicza pierwiastek kwadratowy z liczby x.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 udostępnia też gotowe stałe, np. Math.PI (liczba π), przydatne przy obliczeniach geometrycznych.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math_potegowanie.js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Math.pow(podstawa, wykladnik) - potegowanie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console.log(Math.pow(2, 10)); // 1024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operator ** - nowoczesny, rownowazny zapis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console.log(2 ** 10); // 1024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Math.sqrt() - pierwiastek kwadratowy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console.log(Math.sqrt(81)); // 9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rnd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Losowanie liczb – Math.random()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Math.random() zwraca losową liczbę zmiennoprzecinkową z przedziału od 0 (włącznie) do 1 (wyłącznie).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Każde wywołanie zwraca inną, nieprzewidywalną wartość – to podstawowe narzędzie do losowania w JavaScript.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można przeskalować, mnożąc go przez odpowiednią liczbę, np. Math.random() * 10 da wartość z przedziału od 0 do 10.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Math.random() rzadko używany jest bezpośrednio – zwykle łączymy go z innymi funkcjami Math (kolejny slajd).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math_random.js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Math.random() zwraca losowa liczbe zmiennoprzecinkowa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 przedzialu [0, 1) - od 0 wlacznie, do 1 wylacznie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console.log(Math.random()); // np. 0.7391...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console.log(Math.random()); // np. 0.0625... (za kazdym razem inna)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mnozenie skaluje zakres wyniku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console.log(Math.random() * 10); // np. 6.284... (0 do 10)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1..6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Losowanie liczby całkowitej z przedziału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wylosowania liczby całkowitej z przedziału [min, max] łączymy trzy funkcje: Math.random(), mnożenie i Math.floor().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Wzór Math.floor(Math.random() * (max - min + 1)) + min gwarantuje wynik zawsze w podanym przedziale, włącznie z obiema granicami.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bardzo częsty, „gotowy” fragment kodu wykorzystywany np. w grach, quizach czy symulacjach losowych.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Warto zapamiętać ten wzór jako całość, a nie próbować wyprowadzać go za każdym razem od nowa.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losowanie_z_przedzialu.js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losowaLiczba(min, max)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Math.floor(Math.random() * (max - min + 1)) + min;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console.log(losowaLiczba(1, 6));  // 1-6, np. rzut kostka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console.log(losowaLiczba(5, 10)); // liczba calkowita 5-10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0.1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Zaokrąglanie cen – problem liczb zmiennoprzecinkowych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 zaokrąglić liczbę do dwóch miejsc po przecinku (np. cenę), mnożymy przez 100, zaokrąglamy do liczby całkowitej, a następnie dzielimy przez 100.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przechowuje liczby zmiennoprzecinkowe w sposób, który bywa niedokładny – 0.1 + 0.2 nie daje dokładnie 0.3.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nie jest błąd w naszym kodzie, lecz cecha standardu zapisu liczb zmiennoprzecinkowych (IEEE 754), stosowanego w niemal wszystkich językach programowania.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Zaokrąglanie wyników przed wyświetleniem ich użytkownikowi (np. ceny w sklepie internetowym) to standardowa, dobra praktyka.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zaokraglanie_cen.js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zaokraglCene(cena)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Math.round(cena * 100) / 100;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console.log(zaokraglCene(19.995));  // 20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console.log(zaokraglCene(3.14159)); // 3.14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ciekawostka: liczby zmiennoprzecinkowe bywaja niedokladne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console.log(0.1 + 0.2);         // 0.30000000000000004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console.log(0.1 + 0.2 === 0.3); // false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M{}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MATH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Najważniejsze funkcje obiektu Math – podsumowanie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251960"/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Funkcja / stała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Działanie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Przykład i wynik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Math.round(x) / floor(x) / ceil(x)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zaokrąglanie: do najbliższej / w dół / w górę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Math.round(4.5)→5, Math.floor(4.9)→4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Math.abs(x)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 bezwzględna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Math.abs(-7) →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Math.max(...) / Math.min(...)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największa / najmniejsza z podanych liczb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Math.max(3,7,2) → 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Math.pow(a,b) / a ** b / Math.sqrt(x)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potęgowanie i pierwiastkowanie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** 10 → 1024, Math.sqrt(81) → 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Math.random()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losowa liczba zmiennoprzecinkowa z [0, 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Math.random() → np. 0.42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Pełną listę metod obiektu Math znajdziesz w dokumentacji MDN Web Docs – tu poznaliśmy te używane najczęściej w typowych zadaniach programistycznych.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Funkcje wbudowane – konwersja i tekst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Bezpieczna zamiana danych na liczby oraz podstawowe metody pracy z tekstem.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DANYCH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Zamiana tekstu na liczbę – Number, parseInt, parseFloat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 wpisane przez użytkownika w formularzu (np. pole tekstowe) są zawsze tekstem (typu string) – nawet jeśli wyglądają jak liczba.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Number(tekst) konwertuje cały tekst na liczbę; jeśli tekst nie jest poprawną liczbą, zwraca specjalną wartość NaN (Not a Number).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parseInt(tekst) odczytuje liczbę całkowitą z początku tekstu i ignoruje resztę, np. parseInt("42px") zwraca 42.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parseFloat(tekst) działa podobnie, ale odczytuje też część dziesiętną, np. parseFloat("3.14zł") zwraca 3.14.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konwersja_liczb.js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console.log(Number("42"));    // 42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console.log(Number("3.14"));  // 3.14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console.log(Number("abc"));   // NaN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console.log(parseInt("42px"));    // 42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console.log(parseFloat("3.14zl")); // 3.14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NaN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DANYCH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Sprawdzanie poprawności danych – isNaN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 to specjalna wartość liczbowa oznaczająca „to nie jest liczba” – powstaje np. w wyniku nieudanej konwersji tekstu.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isNaN(x) oraz metoda Number.isNaN(x) sprawdzają, czy wartość jest tą właśnie wartością NaN.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Number.isNaN() jest bardziej precyzyjna i zalecana we współczesnym kodzie – nie konwertuje argumentu przed sprawdzeniem, w przeciwieństwie do globalnego isNaN().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kluczowe narzędzie do walidacji danych wejściowych, zanim wykonamy na nich dalsze obliczenia.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sprawdzanie_nan.js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wynik = Number("abc");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console.log(wynik); // NaN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console.log(Number.isNaN(wynik)); // true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console.log(isNaN(NaN));          // true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typowy wzorzec walidacji danych wejsciowych: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(Number.isNaN(wynik))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console.log("To nie jest poprawna liczba!");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 TEKSTOWE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Podstawowe metody tekstowe – length, case, trim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Napisy (typu string) w JavaScript mają wbudowane właściwości i metody ułatwiające pracę z tekstem.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tekst.length zwraca liczbę znaków w tekście (to właściwość, nie funkcja – bez nawiasów).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toUpperCase() i toLowerCase() zamieniają odpowiednio na same wielkie lub same małe litery.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trim() usuwa białe znaki (spacje, tabulacje) z początku i końca tekstu – przydatne przy danych z formularzy.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metody_tekstowe_1.js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console.log("kot".length); // 3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console.log("JavaScript".toUpperCase()); // "JAVASCRIPT"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console.log("JavaScript".toLowerCase()); // "javascript"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  Ala ma kota  ".trim()); // "Ala ma kota"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"x"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 TEKSTOWE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Wyszukiwanie i przetwarzanie tekstu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includes(fragment) sprawdza, czy tekst zawiera podany fragment, i zwraca true lub false.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slice(start, koniec) wycina fragment tekstu według podanych indeksów (indeksowanie od 0).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split(separator) dzieli tekst na tablicę mniejszych fragmentów według podanego separatora.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replace(szukany, nowy) zamienia pierwsze wystąpienie wskazanego fragmentu na nowy tekst.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metody_tekstowe_2.js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console.log("Ala ma kota".includes("kota")); // true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console.log("Ala ma kota".slice(0, 3)); // "Ala"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console.log("2024-01-15".split("-"));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["2024", "01", "15"]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console.log("kot".replace("k", "K")); // "Kot"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txt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I TEKST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Konwersja danych i metody tekstowe – podsumowanie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3566160"/>
        </p:xfrm>
        <a:graphic>
          <a:graphicData uri="http://schemas.openxmlformats.org/drawingml/2006/table">
            <a:tbl>
              <a:tblPr/>
              <a:tblGrid>
                <a:gridCol w="2926080"/>
                <a:gridCol w="3657600"/>
                <a:gridCol w="4251960"/>
              </a:tblGrid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Funkcja / metoda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Działanie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Przykład i wynik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Number(tekst)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konwertuje cały tekst na liczbę (lub NaN)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Number("42") → 42, Number("abc") → 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parseInt() / parseFloat()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odczytuje liczbę z początku tekstu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parseInt("42px") → 42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Number.isNaN(x) / isNaN(x)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sprawdza, czy wartość to NaN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Number.isNaN(NaN) → true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.trim() / .toUpperCase() / .toLowerCase()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usuwa spacje z brzegów / zmienia wielkość liter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  Ala  ".trim() → "Ala"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.includes() / .slice() / .split() / .replace()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wyszukiwanie, wycinanie, dzielenie, zamiana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"kot".replace("k","K") → "Kot"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777240" y="53949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Pełną listę metod String i Number znajdziesz w dokumentacji MDN Web Docs – w praktyce te kilka metod wystarcza do większości typowych zadań.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Zasięg zmiennych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w programie dana zmienna jest widoczna – zasięg globalny, lokalny i blokowy.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ZMIENNYCH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Przypomnienie: zmienna globalna a lokalna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(ang. scope) zmiennej to obszar kodu, w którym dana zmienna jest dostępna i można się do niej odwołać.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globalna jest zadeklarowana poza jakąkolwiek funkcją – jest widoczna w całym pliku, również wewnątrz funkcji.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Zmienna lokalna jest zadeklarowana wewnątrz funkcji – istnieje tylko podczas jej wykonywania i jest niewidoczna na zewnątrz.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zmienna lokalna ma taką samą nazwę jak globalna, „przesłania” ją (ang. shadowing) wewnątrz swojego zasięgu, nie zmieniając wartości globalnej.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zasieg_globalna_lokalna.js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poziom = "globalny";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zmienPoziom()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poziom = "lokalny"; // przeslania zmienna globalna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poziom;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console.log(zmienPoziom()); // "lokalny"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console.log(poziom);        // "globalny" (bez zmian)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ZMIENNYCH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Zasięg blokowy {} – let/const kontra var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Blok kodu to fragment ujęty w nawiasy klamrowe {} – np. wnętrze instrukcji if, pętli albo samodzielna para {}.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 zadeklarowane słowem let lub const mają zasięg blokowy – istnieją tylko wewnątrz bloku, w którym zostały utworzone.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Starsze słowo kluczowe var NIE ma zasięgu blokowego – zmienna zadeklarowana var wewnątrz if lub pętli jest dostępna również poza nią.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jeden z głównych powodów, dla których we współczesnym kodzie JavaScript konsekwentnie używa się let i const zamiast var.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zasieg_blokowy.js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(true)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wKodzieBloku = "widoczna tylko w bloku";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var wZmiennaVar = "widoczna poza blokiem";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console.log(wZmiennaVar);  // dziala - var "ucieka" z bloku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console.log(wKodzieBloku); // ReferenceError - poza zasiegiem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ZMIENNYCH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Zasięg blokowy w pętli for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Licznik pętli for zadeklarowany słowem let ma zasięg blokowy ograniczony do wnętrza pętli.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zakończeniu pętli zmienna licznika (np. i) przestaje istnieć – próba odwołania się do niej poza pętlą zgłasza błąd ReferenceError.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Dzięki temu, że let tworzy osobną zmienną w każdym przebiegu pętli, funkcje utworzone wewnątrz pętli poprawnie „zapamiętują” swoją własną wartość i.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ważna różnica względem var, która współdzieli jedną, wspólną zmienną dla wszystkich przebiegów pętli (poznamy to zagadnienie szerzej przy okazji domknięć).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zasieg_petla_for.js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funkcje = [];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(let i = 0; i &lt; 3; i++)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funkcje.push(function () { return i; });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console.log(funkcje.map((f) =&gt; f())); // [0, 1, 2]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i); // "undefined" - i nie istnieje poza petla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in()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ZMIENNYCH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Zagnieżdżone funkcje i łańcuch zasięgu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Funkcję można zadeklarować wewnątrz innej funkcji – nazywamy ją wtedy funkcją zagnieżdżoną (wewnętrzną).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wewnętrzna automatycznie „widzi” zmienne i parametry funkcji zewnętrznej, wewnątrz której została utworzona.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mechanizm nazywamy łańcuchem zasięgu (ang. scope chain) – JavaScript szuka zmiennej najpierw lokalnie, a jeśli jej nie znajdzie, sprawdza kolejno zasięgi „na zewnątrz”, aż do zasięgu globalnego.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Relacja działa tylko w jedną stronę: funkcja zewnętrzna NIE ma dostępu do zmiennych zadeklarowanych wewnątrz funkcji wewnętrznej.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lancuch_zasiegu.js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funkcjaZewnetrzna()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wiadomosc = "Witaj ze srodka!";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function funkcjaWewnetrzna()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wiadomosc; // dostep dzieki lancuchowi zasiegu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funkcjaWewnetrzna();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console.log(funkcjaZewnetrzna()); // "Witaj ze srodka!"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!!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ZMIENNYCH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Typowy błąd: przypadkowa zmienna globalna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0292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Jeśli w funkcji przypiszemy wartość do zmiennej BEZ poprzedzenia jej słowem let, const lub var, JavaScript nie zgłosi błędu, lecz utworzy nową zmienną globalną.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 „przypadkowa” zmienna globalna jest dostępna w całym programie i może nieświadomie nadpisać dane używane w zupełnie innym miejscu kodu.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jeden z najczęstszych błędów początkujących programistów – trudny do wykrycia, bo kod „działa”, ale w sposób niezamierzony.</a:t>
            </a:r>
            <a:endParaRPr lang="en-US" sz="14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 jest proste: zawsze deklarować zmienne słowem let lub const, nigdy nie zostawiać samego przypisania bez deklaracji.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8932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0D111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45352" y="181051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7DF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przypadkowa_globalna.js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2139696"/>
            <a:ext cx="5074920" cy="384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funkcjaBezDeklaracji() {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brak let/const - to typowy blad!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wynikObliczen = 100;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funkcjaBezDeklaracji();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console.log(wynikObliczen); // 100 - zmienna "wyciekla" do zasiegu globalnego</a:t>
            </a:r>
            <a:endParaRPr lang="en-US" sz="135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E6E6E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console.log(typeof wynikObliczen); // "number"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ZASIĘG ZMIENNYCH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Typowe błędy związane z zasięgiem zmiennych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691640"/>
          <a:ext cx="10835640" cy="4206240"/>
        </p:xfrm>
        <a:graphic>
          <a:graphicData uri="http://schemas.openxmlformats.org/drawingml/2006/table">
            <a:tbl>
              <a:tblPr/>
              <a:tblGrid>
                <a:gridCol w="3840480"/>
                <a:gridCol w="3474720"/>
                <a:gridCol w="3520440"/>
              </a:tblGrid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b="1" dirty="0">
                          <a:solidFill>
                            <a:srgbClr val="FFFFFF"/>
                          </a:solidFill>
                        </a:rPr>
                        <a:t>Błąd</a:t>
                      </a:r>
                      <a:endParaRPr lang="en-US" sz="116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b="1" dirty="0">
                          <a:solidFill>
                            <a:srgbClr val="FFFFFF"/>
                          </a:solidFill>
                        </a:rPr>
                        <a:t>Przykład</a:t>
                      </a:r>
                      <a:endParaRPr lang="en-US" sz="116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60" b="1" dirty="0">
                          <a:solidFill>
                            <a:srgbClr val="FFFFFF"/>
                          </a:solidFill>
                        </a:rPr>
                        <a:t>Skutek / rozwiązanie</a:t>
                      </a:r>
                      <a:endParaRPr lang="en-US" sz="116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3B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Odwołanie do let/const poza blokiem</a:t>
                      </a:r>
                      <a:endParaRPr lang="en-US" sz="10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 (...) { let x = 1; } console.log(x);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Błąd ReferenceError - zmienna istnieje tylko w bloku {}. Zadeklaruj ją przed blokiem, jeśli ma być dostępna na zewnątrz.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Użycie var zamiast let w pętli</a:t>
                      </a:r>
                      <a:endParaRPr lang="en-US" sz="10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(var i = 0; ...) { ... }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 nie ma zasięgu blokowego - może prowadzić do trudnych do wykrycia błędów. Używaj let.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Przypadkowa zmienna globalna</a:t>
                      </a:r>
                      <a:endParaRPr lang="en-US" sz="10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 f() { wynik = 5; }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 let/const tworzy niezamierzoną zmienną globalną, mogącą nadpisać dane gdzie indziej. Zawsze deklaruj zmienne.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b="1" dirty="0">
                          <a:solidFill>
                            <a:srgbClr val="1B1F3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Zasłonięcie (shadowing) zmiennej</a:t>
                      </a:r>
                      <a:endParaRPr lang="en-US" sz="106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cena = 10; function f(){ let cena = 5; }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 wewnątrz funkcji używa lokalnej wartości, co bywa mylące. Nadawaj zmiennym różne, czytelne nazwy.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D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Kluczowe pojęcia dzisiejszych zajęć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3327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Math.round/floor/ceil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03327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Zaokrąglanie liczb - do najbliższej, zawsze w dół, zawsze w górę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9" name="Shape 7"/>
          <p:cNvSpPr/>
          <p:nvPr/>
        </p:nvSpPr>
        <p:spPr>
          <a:xfrm>
            <a:off x="473659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73659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Math.random()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3659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Losowanie liczb - z Math.floor() daje losową liczbę całkowitą z zakresu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83880" y="196596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9912" y="220370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439912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Number() / parseInt()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439912" y="2697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Konwersja tekstu na liczbę - kluczowe przy danych z formularzy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17" name="Shape 15"/>
          <p:cNvSpPr/>
          <p:nvPr/>
        </p:nvSpPr>
        <p:spPr>
          <a:xfrm>
            <a:off x="103327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3327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.trim() .toUpperCase() .includes()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3327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Metody tekstowe - porządkowanie i analiza danych tekstowych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8056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1" name="Shape 19"/>
          <p:cNvSpPr/>
          <p:nvPr/>
        </p:nvSpPr>
        <p:spPr>
          <a:xfrm>
            <a:off x="473659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3659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zasięg blokowy }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73659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let/const działają tylko wewnątrz {} - var "ucieka" poza blok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83880" y="3657600"/>
            <a:ext cx="3429000" cy="1417320"/>
          </a:xfrm>
          <a:prstGeom prst="roundRect">
            <a:avLst>
              <a:gd name="adj" fmla="val 5806"/>
            </a:avLst>
          </a:prstGeom>
          <a:solidFill>
            <a:srgbClr val="262B52"/>
          </a:solidFill>
          <a:ln/>
        </p:spPr>
      </p:sp>
      <p:sp>
        <p:nvSpPr>
          <p:cNvPr id="25" name="Shape 23"/>
          <p:cNvSpPr/>
          <p:nvPr/>
        </p:nvSpPr>
        <p:spPr>
          <a:xfrm>
            <a:off x="8439912" y="3895344"/>
            <a:ext cx="365760" cy="73152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439912" y="4023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scope chain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439912" y="43891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zagnieżdżona widzi zmienne funkcji zewnętrznej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0" b="1" dirty="0">
                <a:solidFill>
                  <a:srgbClr val="262B5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9200" dirty="0"/>
          </a:p>
        </p:txBody>
      </p:sp>
      <p:sp>
        <p:nvSpPr>
          <p:cNvPr id="3" name="Shape 1"/>
          <p:cNvSpPr/>
          <p:nvPr/>
        </p:nvSpPr>
        <p:spPr>
          <a:xfrm>
            <a:off x="868680" y="3063240"/>
            <a:ext cx="1005840" cy="82296"/>
          </a:xfrm>
          <a:prstGeom prst="rect">
            <a:avLst/>
          </a:prstGeom>
          <a:solidFill>
            <a:srgbClr val="F7DF1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324612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Ćwiczenia praktyczne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34340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Sześć zadań – po dwa na każdy z dzisiejszych tematów: obiekt Math, konwersja/tekst i zasięg zmiennych.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 · FUNKCJE WBUDOWANE MATH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Różnica temperatur w mieście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zastosowanie funkcji Math.abs() oraz Math.round() do obliczenia dodatniej, zaokrąglonej różnicy dwóch temperatur.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roznicaTemperatur(t1, t2), która oblicza różnicę dwóch temperatur i zwraca ją jako liczbę dodatnią, niezależnie od kolejności argumentów.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 zaokrąglij do liczby całkowitej za pomocą Math.round().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dla kilku par temperatur, w tym gdy pierwsza wartość jest mniejsza od drugiej (np. t1=15.2, t2=20.6).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Kolejność Math.abs(Math.round(...)) oraz Math.round(Math.abs(...)) da ten sam wynik - oba podejścia są poprawne.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2 · FUNKCJE WBUDOWANE MATH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Symulator rzutu kostką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praktyczne zastosowanie Math.random() i Math.floor() do losowania liczby całkowitej z określonego przedziału.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losujKostke(), która zwraca losową liczbę całkowitą z przedziału od 1 do 6 (włącznie), symulując rzut kostką do gry.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Zmodyfikuj (lub napisz drugą) funkcję tak, aby przyjmowała parametry min i max i losowała liczbę z dowolnego podanego przedziału.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Uruchom funkcję kilkanaście razy i sprawdź, czy wszystkie otrzymane wyniki mieszczą się w oczekiwanym zakresie.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Wzór Math.floor(Math.random() * (max - min + 1)) + min działa dla dowolnego przedziału liczb całkowitych.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3 · KONWERSJA I TEKST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Bezpieczne wczytanie wieku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zastosowanie funkcji Number() oraz Number.isNaN() do bezpiecznej walidacji danych wejściowych.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wczytajWiek(tekst), która konwertuje przekazany tekst na liczbę.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Jeżeli tekst nie jest poprawną liczbą lub liczba jest ujemna, funkcja powinna zwrócić komunikat "Nieprawidłowy wiek".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dla poprawnych danych (np. "17"), niepoprawnych (np. "abc") oraz wartości ujemnej (np. "-5").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Number.isNaN(wynik) sprawdza, czy konwersja się nie powiodła - pamiętaj też o osobnym sprawdzeniu wartości ujemnych.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4 · KONWERSJA I TEKST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Normalizacja imienia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połączenie kilku metod tekstowych (trim, toUpperCase/toLowerCase, slice) w jednej funkcji porządkującej dane.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normalizujImie(tekst), która usuwa białe znaki z początku i końca tekstu.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powinna zamienić pierwszą literę na wielką, a pozostałe litery na małe (np. "  aLICJA  " → "Alicja").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funkcji dla kilku różnie zapisanych imion, np. "TOMEK" oraz "  aLICJA  ".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Połącz tekst.charAt(0).toUpperCase() z resztą tekstu przetworzoną metodą .slice(1).toLowerCase().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5 · ZASIĘG ZMIENNYCH · POZIOM PODSTAWOWY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Kod promocyjny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rozpoznanie zasięgu blokowego zmiennych zadeklarowanych instrukcją let wewnątrz instrukcji warunkowej.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sprawdzKod(kodPromocyjny), która wewnątrz bloku if deklaruje lokalną zmienną let rabat i zwraca komunikat z wysokością rabatu.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 nieprawidłowego kodu funkcja powinna zwrócić komunikat "Nieprawidłowy kod".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Zastanów się (i sprawdź w konsoli), dlaczego próba odwołania się do zmiennej rabat poza blokiem if zakończy się błędem.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Zmienna zadeklarowana let lub const wewnątrz {} istnieje tylko w tym bloku - to właśnie zasięg blokowy.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6 · ZASIĘG ZMIENNYCH · POZIOM ŚREDNI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Prosty kalkulator z funkcjami zagnieżdżonymi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508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Cel: wykorzystanie łańcucha zasięgu (scope chain) - funkcji zagnieżdżonych korzystających ze zmiennych funkcji zewnętrznej.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4884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Zadeklaruj funkcję utworzKalkulator(liczbaBazowa), a wewnątrz niej dwie funkcje zagnieżdżone: dodaj(x) oraz pomnoz(x), korzystające z parametru liczbaBazowa.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Funkcja utworzKalkulator powinna zwrócić tekst podsumowujący wyniki obu działań dla przykładowej wartości x, np. x=5.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▸"/>
            </a:pPr>
            <a:r>
              <a:rPr lang="en-US" sz="15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Sprawdź działanie dla różnych wartości liczbaBazowa (np. 10 oraz 3).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0000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Wskazówka: Funkcje zagnieżdżone automatycznie "widzą" zmienne i parametry funkcji, wewnątrz której zostały zadeklarowane - to właśnie łańcuch zasięgu.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· pełne rozwiązania w materiale dla nauczyciela (PDF)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✓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dalej po dzisiejszych zajęciach?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Umiemy korzystać z wbudowanych funkcji obiektu Math do zaokrąglania, obliczeń i losowania liczb.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Potrafimy bezpiecznie konwertować tekst na liczby oraz stosować podstawowe metody tekstowe do analizy i porządkowania danych.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Rozumiemy zasięg zmiennych – globalny, lokalny i blokowy – oraz wiemy, jak działa łańcuch zasięgu w funkcjach zagnieżdżonych.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Kolejny etap kursu (zgodnie z wymaganiami INF.03.5): tablice i metody tablicowe, praca z modelem DOM oraz obsługa zdarzeń myszy i klawiatury.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30352" cy="530352"/>
          </a:xfrm>
          <a:prstGeom prst="ellipse">
            <a:avLst/>
          </a:prstGeom>
          <a:solidFill>
            <a:srgbClr val="F7DF1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4846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3E4C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ŹRÓDŁA I PODSTAWA PROGRAMOWA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1353312" y="78638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Bibliografia oraz związek z kwalifikacją INF.03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91640"/>
            <a:ext cx="105156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Treści prezentacji zweryfikowano względem specyfikacji języka ECMAScript (ECMA-262) oraz dokumentacji MDN Web Docs (developer.mozilla.org).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Zakres tematyczny stanowi kontynuację jednostki efektów kształcenia INF.03.5 Programowanie aplikacji internetowych – funkcje wbudowane i świadome zarządzanie zasięgiem zmiennych są niezbędne do pisania poprawnych, wolnych od błędów skryptów.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– Math; MDN – Number, String i metody tekstowe; MDN – Global functions (parseInt, parseFloat, isNaN); MDN – Zasięg zmiennych (Scope).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Centralna Komisja Egzaminacyjna (CKE) – podstawa programowa kształcenia w zawodach, jednostka INF.03.5.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5623560"/>
            <a:ext cx="10881360" cy="685800"/>
          </a:xfrm>
          <a:prstGeom prst="roundRect">
            <a:avLst>
              <a:gd name="adj" fmla="val 10667"/>
            </a:avLst>
          </a:prstGeom>
          <a:solidFill>
            <a:srgbClr val="262B5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wprowadzenie · INF.03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Pakiet 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4093</Words>
  <Application>Microsoft Office PowerPoint</Application>
  <PresentationFormat>Niestandardowy</PresentationFormat>
  <Paragraphs>527</Paragraphs>
  <Slides>35</Slides>
  <Notes>35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35</vt:i4>
      </vt:variant>
    </vt:vector>
  </HeadingPairs>
  <TitlesOfParts>
    <vt:vector size="36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Tomasz Majchrzak</cp:lastModifiedBy>
  <cp:revision>2</cp:revision>
  <dcterms:created xsi:type="dcterms:W3CDTF">2026-09-18T10:07:31Z</dcterms:created>
  <dcterms:modified xsi:type="dcterms:W3CDTF">2026-09-18T10:21:46Z</dcterms:modified>
</cp:coreProperties>
</file>