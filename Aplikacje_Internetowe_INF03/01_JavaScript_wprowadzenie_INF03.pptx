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99F8E-7712-462B-AF34-079B1DE2297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C00FA-4E69-46A8-8471-5EE7F0BC7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INF.03 · PROGRAMOWANIE APLIKACJI INTERNETOWYCH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Wprowadzenie do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programowania w JavaScript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języka · osadzanie skryptów · typy danych · operatory · ćwiczenia praktyczne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się dzisiaj nauczymy?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JavaScript i gdzie działa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 skryptów w dokumencie HTML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Zmienne: var, let, const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 – pierwotne i złożone (z tłumaczeniem)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Operatory: arytmetyczne, przypisania, porównania, logiczne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 i mini-projekt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JavaScript?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Wysokopoziomowy, interpretowany język programowania, stworzony w 1995 roku przez Brendana Eicha (przeglądarka Netscape Navigator).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Standaryzowany jako ECMAScript (specyfikacja ECMA-262) – nazwy „JavaScript” i „ECMAScript” są w praktyce używane zamiennie.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Kolejne wersje standardu oznacza się rokiem wydania, np. ES2015 (ES6), ES2020, ES2022 – język jest stałe rozwijany.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Pomimo nazwy nie jest związany z językiem Java – podobieństwo nazw jest wyłącznie chwytem marketingowym z lat 90.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 trzech filarów tworzenia stron WWW, obok HTML i CSS.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zapamiętania na egzamin: specyfikacją języka JavaScript jest ECMAScript (ECMA-262).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działa i do czego służy JavaScript?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(po stronie klienta) – uruchamiany bezpośrednio w przeglądarce internetowej; obsługuje interakcje użytkownika, formularze, animacje.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(po stronie serwera) – dzięki środowisku Node.js można pisać w JavaScript również serwery i aplikacje sieciowe.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Aplikacje mobilne i desktopowe – np. React Native, Electron.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ramach kwalifikacji INF.03 skupiamy się na JavaScript uruchamianym po stronie klienta (w przeglądarce), współpracującym z HTML (DOM) i obsługą zdarzeń.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 i JavaScript – trzy warstwy strony WWW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99516" y="20116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E883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9516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28116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i treść (szkielet)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09644" y="315468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48556" y="20116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3E7B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8556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77156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wygląd i prezentacja (styl)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58684" y="315468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97596" y="20116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7596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26196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 i interaktywność (logika)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HTML to szkielet i ściany domu, CSS to jego wystrój i elewacja, a JavaScript to instalacja elektryczna i automatyka – sprawia, że dom “działa” i reaguje.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Cechy języka JavaScript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37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349240"/>
              </a:tblGrid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Cecha (PL)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Termin angielski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 to oznacza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Interpretowany / kompilowany JIT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interpreted / JIT-compiled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wykonywany jest “w locie” przez silnik przeglądarki (np. V8), bez osobnego etapu kompilacji przez programistę.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Dynamicznie typowany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dynamically typed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zmiennej ustalany jest w trakcie działania programu, nie trzeba go deklarować z góry.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Słabo typowany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/ loosely typed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Język automatycznie konwertuje typy danych, gdy jest to możliwe (np. "5" + 1 daje "51").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Obiektowy oparty na prototypach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prototype-based 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Obiekty dziedziczą właściwości bezpośrednio od innych obiektów (prototypów), a nie tylko od klas.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Wieloparadygmatowy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multi-paradigm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Można pisać w stylu proceduralnym, obiektowym i funkcyjnym.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Jednowątkowy z pętlą zdarzeń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single-threaded, event 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Wykonuje jedną operację na raz, ale obsługuje zdarzenia asynchroniczne dzięki mechanizmowi event loop.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JĘZYKA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 programu w JavaScript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składa się z instrukcji (statements) wykonywanych kolejno, od góry do dołu.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Każdą instrukcję zwyczajowo kończymy średnikiem ; – JS posiada mechanizm ASI (Automatic Semicolon Insertion), ale poleganie na nim jest ryzykowne.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kodu ujmujemy w nawiasy klamrowe { }.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Język rozróżnia wielkie i małe litery (case-sensitive) – zmienna suma i Suma to dwie różne zmienne.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Komentarze: // komentarz jednoliniowy oraz /* komentarz wieloliniowy */.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przyklad.js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komentarz jednoliniowy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suma = 2 + 2;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console.log(suma);   // 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komentarz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wieloliniowy */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(suma &gt; 0)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console.log("Suma dodatnia");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 SKRYPTÓW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Skrypt wewnętrzny (inline)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JavaScript umieszczamy bezpośrednio pomiędzy znacznikami &lt;script&gt; i &lt;/script&gt; w dokumencie HTML.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Wygodne przy krótkich, prostych skryptach lub materiałach dydaktycznych.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Wada: miesza logikę (JS) z treścią (HTML) w jednym pliku, co utrudnia utrzymanie większych projektów.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można umieścić zarówno w sekcji &lt;head&gt;, jak i w &lt;body&gt;.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lang="pl"&gt;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&lt;title&gt;Moja strona&lt;/title&gt;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&lt;h1&gt;Witaj!&lt;/h1&gt;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console.log("Skrypt wewnętrzny");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 SKRYPTÓW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Skrypt zewnętrzny (external)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JavaScript zapisujemy w osobnym pliku z rozszerzeniem .js i łączymy go z HTML atrybutem src znacznika &lt;script&gt;.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rozdzielenie treści od logiki, możliwość ponownego użycia tego samego pliku na wielu stronach, przeglądarka może zapisać plik w pamięci podręcznej (cache).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Znacznik &lt;script src="..."&gt;&lt;/script&gt; nie może jednocześnie zawierać kodu wewnątrz siebie – treść między znacznikami zostanie zignorowana.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zalecany sposób pracy w projektach o większej skali.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+ script.js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&lt;h1&gt;Witaj!&lt;/h1&gt;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src="script.js"&gt;&lt;/script&gt;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console.log("Skrypt zewnętrzny");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 SKRYPTÓW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Atrybuty async i defer – kiedy wykonuje się skrypt?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domyślnie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(bez atrybutu)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783080"/>
            <a:ext cx="2377440" cy="502920"/>
          </a:xfrm>
          <a:prstGeom prst="rect">
            <a:avLst/>
          </a:prstGeom>
          <a:solidFill>
            <a:srgbClr val="3E4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HTML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1901952" cy="502920"/>
          </a:xfrm>
          <a:prstGeom prst="rect">
            <a:avLst/>
          </a:prstGeom>
          <a:solidFill>
            <a:srgbClr val="C045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7830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22592" y="1783080"/>
            <a:ext cx="1426464" cy="502920"/>
          </a:xfrm>
          <a:prstGeom prst="rect">
            <a:avLst/>
          </a:prstGeom>
          <a:solidFill>
            <a:srgbClr val="C045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22592" y="17830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 JS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49056" y="1783080"/>
            <a:ext cx="2615184" cy="502920"/>
          </a:xfrm>
          <a:prstGeom prst="rect">
            <a:avLst/>
          </a:prstGeom>
          <a:solidFill>
            <a:srgbClr val="3E4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9056" y="17830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dalszy parsing 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31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blokuje parsowanie dokumentu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4436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3017520"/>
            <a:ext cx="4992624" cy="502920"/>
          </a:xfrm>
          <a:prstGeom prst="rect">
            <a:avLst/>
          </a:prstGeom>
          <a:solidFill>
            <a:srgbClr val="3E4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301752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HTML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35824" y="3017520"/>
            <a:ext cx="1426464" cy="502920"/>
          </a:xfrm>
          <a:prstGeom prst="rect">
            <a:avLst/>
          </a:prstGeom>
          <a:solidFill>
            <a:srgbClr val="3E7B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35824" y="30175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62288" y="3017520"/>
            <a:ext cx="1901952" cy="502920"/>
          </a:xfrm>
          <a:prstGeom prst="rect">
            <a:avLst/>
          </a:prstGeom>
          <a:solidFill>
            <a:srgbClr val="3E4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62288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HTML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3566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 natychmiast po pobraniu – bez gwarancji kolejności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1788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0" y="4251960"/>
            <a:ext cx="5616702" cy="502920"/>
          </a:xfrm>
          <a:prstGeom prst="rect">
            <a:avLst/>
          </a:prstGeom>
          <a:solidFill>
            <a:srgbClr val="3E4C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4251960"/>
            <a:ext cx="5616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+ parsing HTML (bez blokady)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59902" y="4251960"/>
            <a:ext cx="1664208" cy="502920"/>
          </a:xfrm>
          <a:prstGeom prst="rect">
            <a:avLst/>
          </a:prstGeom>
          <a:solidFill>
            <a:srgbClr val="2FA5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9902" y="425196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024110" y="4251960"/>
            <a:ext cx="1040130" cy="502920"/>
          </a:xfrm>
          <a:prstGeom prst="rect">
            <a:avLst/>
          </a:prstGeom>
          <a:solidFill>
            <a:srgbClr val="2FA5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24110" y="4251960"/>
            <a:ext cx="10401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DOMContentLoaded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4800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wykonanie po zakończeniu parsowania, w kolejności występowania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atrybuty async i defer działają tylko dla skryptów zewnętrznych (z atrybutem src) – w skrypcie wewnętrznym są ignorowane. Jeśli użyjemy obu naraz, przeglądarka zastosuje async.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 SKRYPTÓW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umieszczać znacznik &lt;script&gt;?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52044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Wariant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Zachowanie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Kiedy stosować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&lt;script&gt; w &lt;head&gt;, bez atrybutu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Blokuje wczytywanie strony do czasu pobrania i wykonania skryptu.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Odradzane – opóżnia wyświetlenie treści użytkownikowi.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&lt;script&gt; na końcu &lt;body&gt;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Strona (HTML) jest już sparsowana, zanim skrypt zacznie działać.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Klasyczne, popularne rozwiązanie, szczególnie w materiałach dydaktycznych.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&lt;script defer src="..."&gt; w &lt;head&gt;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Pobierane równolegle z parsowaniem, wykonywane po jego zakończeniu, w kolejności.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Zalecana współczesna praktyka dla skryptów operujących na DOM.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&lt;script async src="..."&gt;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Wykonywane natychmiast po pobraniu, może przerwać parsowanie.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Dla niezależnych skryptów (np. analityka), gdy kolejność nie ma znaczenia.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JĘZYKA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Pierwszy program – wyświetlanie danych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2971800"/>
              </a:tblGrid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Polecenie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Gdzie wyświetla wynik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Zastosowanie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console.log("Witaj, świecie!");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Konsola narzędzi deweloperskich przeglądarki (lub terminal w Node.js).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Podstawowe narzędzie do debugowania i testowania kodu.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alert("Witaj, świecie!");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Okno dialogowe (pop-up) w przeglądarce, blokuje działanie strony do zamknięcia.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Rzadko w produkcji; przydatne do szybkich testów.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document.write("Witaj, świecie!");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Bezpośrednio w treści dokumentu HTML.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Odradzane we współczesnym JS – użyte po załadowaniu strony nadpisuje cały jej dotychczasowy dokument.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zajęciach i egzaminie najczęściej korzystamy z console.log() – to standardowe narzędzie pracy programisty.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zmienna?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(variable) to nazwany obszar pamięci, w którym przechowujemy wartość danych – można ją porównać do podpisanego pojemnika.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JavaScript zmienne deklarujemy jednym z trzech słów kluczowych: var, let lub const.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Składnia deklaracji ze przypisaniem: let wiek = 17;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Zmienną można zadeklarować bez nadawania jej wartości od razu: let wynik; (wtedy domyślnie ma wartość undefined).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służy do wartości, które nie będą ponownie przypisywane po zadeklarowaniu (stałe).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var, let i const – kluczowe różnice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2514600"/>
                <a:gridCol w="2514600"/>
                <a:gridCol w="251460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Cecha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Zasięg (scope)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funkcyjny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blokowy {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blokowy {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Ponowna deklaracja tej samej nazwy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dozwolona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błąd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błąd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Ponowne przypisanie wartości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(błąd)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Hoisting (“wynoszenie” deklaracji)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tak, z wartością undefined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tak, ale bez inicjalizacji (“Temporal Dead Zone”)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tak, ale bez inicjalizacji (“Temporal Dead Zone”)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Zalecane użycie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unikamy we współczesnym kodzie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gdy wartość zmienia się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domyślny wybór, gdy wartość się nie zmienia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const oznacza stałe przypisanie referencji, a nie niemutowalność wartości – zawartość tablicy lub obiektu zadeklarowanego przez const nadal można zmieniać.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nazewnictwa zmiennych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 może zawierać litery, cyfry, znak podkreślenia _ oraz znak dolara $, ale nie może zaczynać się od cyfry.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Wielkość liter ma znaczenie: wynik, Wynik i WYNIK to trzy różne identyfikatory.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można używać słów zarezerwowanych (kluczowych) języka, np. let, function, if, class, return.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Konwencja stylistyczna w JavaScript to camelCase, np. liczbaUczniow, imieUcznia, obliczSume().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Nazwy powinny być opisowe i jednoznaczne – ułatwia to czytanie i utrzymanie kodu (dobra praktyka egzaminacyjna i zawodowa).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Podział typów danych w JavaScript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danych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2167128"/>
            <a:ext cx="0" cy="320040"/>
          </a:xfrm>
          <a:prstGeom prst="line">
            <a:avLst/>
          </a:prstGeom>
          <a:noFill/>
          <a:ln w="19050">
            <a:solidFill>
              <a:srgbClr val="C4C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87168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3E7B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871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pierwotne (primitive)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– liczba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– ciąg znaków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– wartość logiczna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– niezdefiniowana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– pusta wartość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– duża liczba całkowita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– unikalny identyfikator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2167128"/>
            <a:ext cx="0" cy="320040"/>
          </a:xfrm>
          <a:prstGeom prst="line">
            <a:avLst/>
          </a:prstGeom>
          <a:noFill/>
          <a:ln w="19050">
            <a:solidFill>
              <a:srgbClr val="C4C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487168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E883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4871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złożone (reference / obiektowe)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– obiekt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– tablica (rodzaj obiektu)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– funkcja (rodzaj obiektu)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pierwotne (1/2): liczby, tekst, logika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  <a:gridCol w="2697480"/>
              </a:tblGrid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Typ / tłumaczenie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liczba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Liczby całkowite i zmiennoprzecinkowe zapisane w jednym formacie (IEEE 754). Wartości specjalne: Infinity, -Infinity, NaN (Not-a-Number).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wiek = 17;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pi = 3.14;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ciąg znaków / łańcuch tekstowy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 zapisany w cudzysłowach '...' , "..." lub w apostrofach odwrotnych `...` (template literals). Wartości są niezmienne (immutable).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imie = "Ala";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zd = `Cześć ${imie}`;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wartość logiczna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Dokładnie dwie możliwe wartości: true (prawda) lub false (fałsz). Wynik porównań i warunków logicznych.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czyPelnoletni = true;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pierwotne (2/2): brak wartości i typy specjalne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  <a:gridCol w="2697480"/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Typ / tłumaczenie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Undefined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niezdefiniowana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Automatyczna wartość zmiennej zadeklarowanej, ale bez przypisanej wartości.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x;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 x === undefined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pusta wartość / brak wartości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Świadomie przypisany “brak wartości” – programista jawnie określa, że zmienna jest pusta.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wynik = null;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duża liczba całkowita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Liczby całkowite o dowolnie dużej precyzji (większej niż Number.MAX_SAFE_INTEGER). Zapisujemy z przyrostkiem n.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duza = 123456789012345678901234567890n;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Symbol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unikalny identyfikator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Unikatowa i niemutowalna wartość, często używana jako unikalny klucz właściwości obiektu.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id = Symbol("id");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oznacza „brak przypisania” (bezwiedny), a null – „celowy brak wartości” (świadomy) – to częsta różnica sprawdzana na egzaminie.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złożone (referencyjne)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337560"/>
              </a:tblGrid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Typ / tłumaczenie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obiekt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Kolekcja par klucz: wartość, opisująca właściwości pojedynczego bytu.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uczen = {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imie: "Ala",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wiek: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};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tablica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Uporządkowana lista wartości, indeksowana od 0. Technicznie jest to szczególny rodzaj obiektu.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oceny = [4, 5, 3, 6];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funkcja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 kodu wielokrotnego użytku; w JavaScript funkcje są wartościami – można je przypisywać do zmiennych i przekazywać jako argumenty.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dodaj(a, b) {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return a + b;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złożone przechowywane są w pamięci przez referencję (odniesienie), a nie przez wartość – to różni je od typów pierwotnych.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Sprawdzanie typu – operator typeof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typeof zwraca nazwę typu wartości jako ciąg znaków (string).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Służy do sprawdzania, z jakim typem danych mamy do czynienia w danym momencie.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Pułapka egzaminacyjna: typeof null zwraca "object", a nie "null" – to historyczny błąd języka zachowany dla zgodności wstecznej.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sprawdzić, czy wartość jest tablicą, należy użyć Array.isArray(), ponieważ typeof dla tablicy również zwraca "object".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– konsola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42;          // "number"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"tekst";      // "string"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true;         // "boolean"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undefined;    // "undefined"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null;         // "object"  (!)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10n;          // "bigint"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Symbol();     // "symbol"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{};           // "object"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[];           // "object"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function(){}; // "function"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Konwersja typów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niejawna (type coercion) – JavaScript samodzielnie zmienia typ wartości, np. podczas działań na różnych typach.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jawna – programista świadomie zmienia typ za pomocą funkcji: Number(), String(), Boolean().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+ łączy tekst, jeśli jeden z argumentów jest ciągiem znaków (konkatenacja); pozostałe operatory arytmetyczne (-, *, /) najpierw próbują skonwertować wartości na liczby.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 uznawane za „fałszywe” (falsy) przy konwersji na Boolean: 0, "" (pusty ciąg), null, undefined, NaN, false. Wszystkie pozostałe są „prawdziwe” (truthy).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konwersja.js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+ 1;        // "51" (konkatenacja)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- 1;        // 4   (konwersja na liczbę)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Number("12");   // 12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String(12);     // "12"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Boolean(0);     // false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Boolean("");    // false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Boolean("0");   // true  (niepusty string!)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Operatory arytmetyczne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2743200"/>
                <a:gridCol w="2331720"/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Nazwa (PL / EN)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Wynik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dodawanie / addition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odejmowanie /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5 - 2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mnożenie / multiplication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*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dzielenie / division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reszta z dzielenia (modulo) / remainder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potęgowanie / exponentiation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**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inkrementacja / increment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a=5; a++;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dekrementacja / decrement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a=5; a--;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Operatory przypisania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4526280"/>
              </a:tblGrid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Równoważny zapis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Nazwa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przypisanie (assignment)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+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dodaj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-=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-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odejmij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*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pomnóż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/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podziel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%=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%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reszta z dzielenia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**= 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** 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potęgowanie i przypisz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Operatory porównania – luźna i ścisła równość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5120640"/>
                <a:gridCol w="2377440"/>
                <a:gridCol w="141732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Nazwa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Wynik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równość luźna (loose equality) – z konwersją typów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"5" ==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===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równość ścisła (strict equality) – bez konwersji typów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"5" ===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różność luźna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"5" !=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!==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różność ścisła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"5" !==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  &gt;  &lt;=  &gt;=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mniejszy, większy, mniejszy/większy lub równy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praktyka (również na egzaminie INF.03): stosuj domyślnie === i !==, aby uniknąć nieoczekiwanych konwersji typów.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Operatory logiczne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3246120"/>
                <a:gridCol w="1920240"/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Nazwa (PL / EN)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Wynik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koniunkcja – AND („i”)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&amp;&amp;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koniunkcja – AND („i”)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&gt; 2 &amp;&amp; 3 &gt;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alternatywa – OR („lub”)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||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negacja – NOT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!true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zwraca prawdę tylko gdy oba warunki są prawdziwe; || zwraca prawdę, gdy przynajmniej jeden warunek jest prawdziwy.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Nowoczesne operatory: ?? oraz ?.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 – operator zlewania z null/undefined (nullish coalescing, ES2020): zwraca prawą stronę tylko wtedy, gdy lewa jest null lub undefined (nie myli tego z innymi wartościami falsy, jak 0 czy pusty string).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?. – opcjonalne łańcuchowanie (optional chaining, ES2020): bezpiecznie odczytuje właściwość zagnieżdżoną, zwracając undefined zamiast rzucać błąd, gdy po drodze wystąpi null/undefined.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Ważna zasada składniowa: operatora ?? nie wolno łączyć bezpośrednio z &amp;&amp; lub || bez nawiasów – taki zapis jest błędem składniowym (SyntaxError).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nowoczesne_operatory.js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?? 10;        // 0  (0 to nie null/undefined)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|| 10;        // 10 (0 jest falsy!)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osoba = { adres: null };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osoba.adres?.miasto;  // undefined, bez błędu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(a || b) ?? c;   // OK, z nawiasami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|| b ?? c;     // SyntaxError!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warunkowy (ternary)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35640" cy="3566160"/>
          </a:xfrm>
          <a:prstGeom prst="roundRect">
            <a:avLst>
              <a:gd name="adj" fmla="val 1795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81051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składnia i przykład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39696"/>
            <a:ext cx="103327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warunek ? wartosc_gdy_prawda : wartosc_gdy_falsz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wiek = 17;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status = wiek &gt;= 18 ? "pełnoletni" : "niepełnoletni";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console.log(status);   // "niepełnoletni"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równoważne wyrażenie z if/else: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status2;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(wiek &gt;= 18) { status2 = "pełnoletni";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 status2 = "niepełnoletni"; }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warunkowy to jedyny operator trójargumentowy (ternary) w JavaScript – zwięzły zamiennik prostego if/else zwracającego wartość.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Kolejność wykonywania operatorów (precedencja)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w jednym wyrażeniu występuje kilka operatorów, o kolejności ich wykonania decyduje precedencja (podobnie jak kolejność działań w matematyce).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najwyższego do najniższego priorytetu (skrótowo): nawiasy ( ) → operatory jednoargumentowe (!, typeof, ++, --) → potęgowanie ** → mnożenie/dzielenie/reszta * / % → dodawanie/odejmowanie + - → porównania &lt; &gt; &lt;= &gt;= → równości == === != !== → &amp;&amp; → || → ?? → operator warunkowy ?: → przypisanie =.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2 + 3 * 4 daje 14, a nie 20, ponieważ mnożenie ma wyższy priorytet niż dodawanie.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Nawiasy zawsze pozwalają jednoznacznie wymusić pożądaną kolejność: (2 + 3) * 4 daje 20.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praktyka: w razie wątpliwości używaj nawiasów – kod jest wtedy czytelniejszy i mniej podatny na błędy.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STERUJĄCE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Przypomnienie: instrukcja warunkowa if / else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35640" cy="3566160"/>
          </a:xfrm>
          <a:prstGeom prst="roundRect">
            <a:avLst>
              <a:gd name="adj" fmla="val 1795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81051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if_else.js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39696"/>
            <a:ext cx="103327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ocena = 4;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(ocena &gt;= 5)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console.log("Bardzo dobrze!");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(ocena &gt;= 3)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console.log("Dobrze, można lepiej.");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console.log("Czas na powtórkę.");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"Dobrze, można lepiej."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sterujące (if/else, switch, pętle) wykorzystują poznane dziś operatory porównania i logiczne – to temat naszych kolejnych zajęć.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ZAPOWIEDŹ – DOM I ZDARZENIA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a strona: model DOM i zdarzenia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(Document Object Model) to reprezentacja dokumentu HTML jako drzewa obiektów, dostępnego z poziomu JavaScript.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document.getElementById() pozwala pobrać element strony po jego atrybucie id.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addEventListener() pozwala „nasłuchiwać” zdarzenia (np. kliknięcie) i reagować na nie kodem JavaScript.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fundament wymagań kwalifikacji INF.03 w zakresie obsługi zdarzeń myszy/klawiatury oraz formularzy – rozwiniemy ten temat na kolejnych zajęciach.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zdarzenie.html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id="btn"&gt;Kliknij mnie&lt;/button&gt;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id="wynik"&gt;&lt;/p&gt;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btn 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document.getElementById("btn");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btn.addEventListener("click", () =&gt;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.getElementById("wynik")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.textContent =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"Witaj w świecie JavaScript!";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praktyczne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przejść od teorii do praktyki – cztery zadania o rosnącym stopniu trudności.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Zmienne i typy danych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poprawne deklarowanie zmiennych i rozpoznawanie typu danych.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zmienne przechowujące: Twoje imię (typ String), Twój wiek (typ Number) oraz informację, czy jesteś uczniem szkoły średniej (typ Boolean).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każdej z powyższych zmiennych wypisz w konsoli jej wartość oraz typ za pomocą operatora typeof.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dodatkową zmienną słowem kluczowym let, nie przypisując jej żadnej wartości, a następnie sprawdź i wypisz jej typ.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Skorzystaj z szablonu: console.log(zmienna, typeof zmienna);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Operatory arytmetyczne i porównania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operatorów arytmetycznych oraz zrozumienie różnicy między == a ===.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zmienne let a = 7; oraz let b = 2;. Oblicz i wypisz w konsoli: sumę, różnicę, iloczyn, iloraz, resztę z dzielenia oraz a do potęgi b.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Porównaj wartości "5" (typu String) i 5 (typu Number) operatorem == oraz operatorem ===. Wypisz oba wyniki w konsoli.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komentarzu w kodzie wyjaśnij, dlaczego oba porównania dają różne wyniki.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Pamiętaj o kolejności wykonywania działań – w razie wątpliwości użyj nawiasów.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Osadzanie skryptu w HTML i konwersja typów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poprawne osadzenie zewnętrznego pliku JavaScript oraz zastosowanie jawnej konwersji typów.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Utwórz plik HTML (index.html) z poprawnie osadzonym zewnętrznym plikiem script.js, wykorzystując atrybut defer.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pliku script.js pobierz od użytkownika dwie liczby za pomocą funkcji prompt() (która zawsze zwraca tekst – String).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Przekonwertuj jawnie obie wartości na typ Number, oblicz ich sumę i wyświetl wynik za pomocą alert().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i zapisz w komentarzu, co się stanie, jeśli pominiesz konwersję typów i dodałeś wartości bezpośrednio z prompt().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Do konwersji tekstu na liczbę służy funkcja Number().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 · POZIOM ROZSZERZONY – MINI-PROJEKT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Prosty kalkulator z obsługą zdarzenia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połączenie poznanych typów, operatorów i podstaw DOM w jednym działającym programie (nawiązanie do wymagań egzaminacyjnych INF.03).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Zbuduj stronę HTML z dwoma polami &lt;input&gt; (liczba a, liczba b), listą rozwijaną &lt;select&gt; z wyborem działania (+, -, *, /) oraz przyciskiem „Oblicz”.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addEventListener obsłuż kliknięcie przycisku: pobierz wartości pól, przekonwertuj je na liczby i wykonaj wybrane działanie.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 wynik w elemencie &lt;p id="wynik"&gt; za pomocą właściwości textContent.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 program przed dzieleniem przez zero – w takim przypadku wyświetl czytelny komunikat błędu zamiast wyniku Infinity.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Wartość wybraną z &lt;select&gt; odczytasz przez właściwość .value, a następnie możesz użyć instrukcji switch.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pojęcia z dzisiejszych zajęć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Osadzanie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&lt;script&gt;, src, defer / async, umiejscowienie w dokumencie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let, const – zasięg i możliwość zmiany wartości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991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pierwotne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String, Boolean, Undefined, Null, BigInt, Symbol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złożone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Array, Function – przechowywane przez referencję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arytmetyczne, przypisania, porównania (== vs ===), logiczne, ??  ?.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991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 zdarzenia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addEventListener – most do kolejnych zajęć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PODSTAWA PROGRAMOWA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 oraz związek z kwalifikacją INF.03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prezentacji zweryfikowano względem specyfikacji języka ECMAScript (ECMA-262) oraz dokumentacji MDN Web Docs (developer.mozilla.org).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tematyczny zgodny z jednostką efektów kształcenia INF.03.5 Programowanie aplikacji internetowych, efekt: „programuje skrypty wykonywane po stronie klienta” (m.in. kryteria: programuje w języku JavaScript, stosuje obsługę zdarzeń myszy i klawiatury, definiuje skrypty obsługujące formularze i kontrolki HTML, korzysta z funkcji modelu DOM).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JavaScript Guide: Data structures; MDN – element &lt;script&gt;; MDN – Expressions and operators.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Centralna Komisja Egzaminacyjna (CKE) – podstawa programowa kształcenia w zawodach, jednostka INF.03.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4245</Words>
  <Application>Microsoft Office PowerPoint</Application>
  <PresentationFormat>Niestandardowy</PresentationFormat>
  <Paragraphs>704</Paragraphs>
  <Slides>37</Slides>
  <Notes>37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37</vt:i4>
      </vt:variant>
    </vt:vector>
  </HeadingPairs>
  <TitlesOfParts>
    <vt:vector size="38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3</cp:revision>
  <dcterms:created xsi:type="dcterms:W3CDTF">2026-09-18T06:48:04Z</dcterms:created>
  <dcterms:modified xsi:type="dcterms:W3CDTF">2026-09-24T06:44:31Z</dcterms:modified>
  <cp:contentStatus>Wersja ostateczna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