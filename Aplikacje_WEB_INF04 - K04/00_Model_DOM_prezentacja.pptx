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-31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93B58-DC49-439A-AB13-A1496BDEC9D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E909C-EEA4-4A69-805D-D65DC0396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54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0584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232333"/>
          </a:solidFill>
          <a:ln w="12700">
            <a:solidFill>
              <a:srgbClr val="333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1005840"/>
            <a:ext cx="3657600" cy="365760"/>
          </a:xfrm>
          <a:prstGeom prst="roundRect">
            <a:avLst>
              <a:gd name="adj" fmla="val 30000"/>
            </a:avLst>
          </a:prstGeom>
          <a:solidFill>
            <a:srgbClr val="15151F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1188720"/>
            <a:ext cx="3657600" cy="182880"/>
          </a:xfrm>
          <a:prstGeom prst="rect">
            <a:avLst/>
          </a:prstGeom>
          <a:solidFill>
            <a:srgbClr val="15151F"/>
          </a:solidFill>
          <a:ln/>
        </p:spPr>
      </p:sp>
      <p:sp>
        <p:nvSpPr>
          <p:cNvPr id="5" name="Shape 3"/>
          <p:cNvSpPr/>
          <p:nvPr/>
        </p:nvSpPr>
        <p:spPr>
          <a:xfrm>
            <a:off x="8097012" y="1147572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Shape 4"/>
          <p:cNvSpPr/>
          <p:nvPr/>
        </p:nvSpPr>
        <p:spPr>
          <a:xfrm>
            <a:off x="8279892" y="1147572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7" name="Shape 5"/>
          <p:cNvSpPr/>
          <p:nvPr/>
        </p:nvSpPr>
        <p:spPr>
          <a:xfrm>
            <a:off x="8462772" y="1147572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83880" y="1600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 =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2606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.querySelector("h1");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3108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el.textContent =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4114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"Witaj, DOM!";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371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2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 WPROWADZENIEM DO JQUERY — KWALIFIKACJA INF.03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8288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DOM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JavaScript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Przedmiot: projektowanie aplikacji internetowych  •  Jednostka INF.03.5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F7DF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Materiały dla ucznia — technikum / szkoła branżowa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ZAJĘĆ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się dziś zajmiemy?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1C1C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379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DOM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2199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Drzewo węzłów reprezentujące dokument —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relacja HTML, DOM i JavaScript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856232"/>
            <a:ext cx="566928" cy="566928"/>
          </a:xfrm>
          <a:prstGeom prst="ellipse">
            <a:avLst/>
          </a:prstGeom>
          <a:solidFill>
            <a:srgbClr val="1C1C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8379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Wybieranie elementów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22199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getElementById, querySelector,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querySelectorAll i nawigacja po drzewie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822192"/>
            <a:ext cx="566928" cy="566928"/>
          </a:xfrm>
          <a:prstGeom prst="ellipse">
            <a:avLst/>
          </a:prstGeom>
          <a:solidFill>
            <a:srgbClr val="1C1C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822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8039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i zmiana treści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8795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textContent, innerHTML, classList,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 i atrybuty elementów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822192"/>
            <a:ext cx="566928" cy="566928"/>
          </a:xfrm>
          <a:prstGeom prst="ellipse">
            <a:avLst/>
          </a:prstGeom>
          <a:solidFill>
            <a:srgbClr val="1C1C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3822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8039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elementów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18795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createElement, append, usuwanie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elementów ze strony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4F4F8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623560"/>
            <a:ext cx="201168" cy="20116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623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568696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lekcji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89788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tej lekcji swobodnie odnajdziesz i zmienisz dowolny element strony za pomocą czystego JavaScript — a przy okazji zrozumiesz, jaki problem miała rozwiązać biblioteka jQuery, którą poznamy na kolejnych zajęciach.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868680" y="28803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DOM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3566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Sposób, w jaki przeglądarka reprezentuje dokument HTML jako strukturę dostępną z poziomu JavaScript.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DOM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Definicja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37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(Document Object Model) to interfejs programistyczny, który reprezentuje dokument HTML jako strukturę obiektów dostępną z poziomu kodu.</a:t>
            </a:r>
            <a:endParaRPr lang="en-US" sz="137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37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NIE jest częścią samego języka JavaScript — to osobny interfejs przeglądarki (Web API), z którego JavaScript korzysta.</a:t>
            </a:r>
            <a:endParaRPr lang="en-US" sz="137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37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Dzięki DOM skrypt może odczytać zawartość strony, zmienić ją, dodać nowe elementy albo zareagować na działania użytkownika.</a:t>
            </a:r>
            <a:endParaRPr lang="en-US" sz="137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37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Przeglądarka buduje drzewo DOM automatycznie, wczytując i analizując (parsując) kod HTML strony.</a:t>
            </a:r>
            <a:endParaRPr lang="en-US" sz="137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2103120"/>
          </a:xfrm>
          <a:prstGeom prst="roundRect">
            <a:avLst>
              <a:gd name="adj" fmla="val 3913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691640"/>
            <a:ext cx="475488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37944"/>
            <a:ext cx="475488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99732" y="179679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7173468" y="179679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7204" y="179679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93976"/>
            <a:ext cx="43891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4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document to punkt wejścia do DOM</a:t>
            </a:r>
            <a:endParaRPr lang="en-US" sz="114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4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console.log(document.title);</a:t>
            </a:r>
            <a:endParaRPr lang="en-US" sz="114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4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4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4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</a:t>
            </a:r>
            <a:r>
              <a:rPr lang="en-US" sz="114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"h1"</a:t>
            </a:r>
            <a:r>
              <a:rPr lang="en-US" sz="114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4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4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.textContent = </a:t>
            </a:r>
            <a:r>
              <a:rPr lang="en-US" sz="114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"Zmieniony nagłówek"</a:t>
            </a:r>
            <a:r>
              <a:rPr lang="en-US" sz="114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858000" y="397764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4F4F8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4160520"/>
            <a:ext cx="201168" cy="20116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9168" y="4160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4105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to ważne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43484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DOM strona byłaby dla JavaScript całkowicie niewidoczna — to właśnie DOM łączy statyczny kod HTML z dynamicznym zachowaniem strony.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DOM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jako drzewo węzłów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 HTML ma budowę zagnieżdżoną — elementy znajdują się wewnątrz innych elementów. DOM odwzorowuje to jako drzewo (strukturę hierarchiczną).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fragment dokumentu — znacznik, tekst, a nawet komentarz — staje się osobnym węzłem (node) w tym drzewie.</a:t>
            </a:r>
            <a:endParaRPr lang="en-US" sz="1500" dirty="0"/>
          </a:p>
          <a:p>
            <a:pPr marL="228600" indent="-228600">
              <a:lnSpc>
                <a:spcPct val="112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Węzły połączone są relacją rodzic–dziecko: element może być rodzicem innych węzłów (swoich dzieci) i jednocześnie dzieckiem swojego rodzica.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11094415" cy="2148840"/>
          </a:xfrm>
          <a:prstGeom prst="roundRect">
            <a:avLst>
              <a:gd name="adj" fmla="val 3404"/>
            </a:avLst>
          </a:prstGeom>
          <a:solidFill>
            <a:srgbClr val="F4F4F8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4206240"/>
            <a:ext cx="201168" cy="20116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4206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151376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Zapamiętaj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drzewa to nie tylko teoria — to właśnie po tej strukturze JavaScript „porusza się” w kodzie: wybierając elementy, odczytując ich rodziców i dzieci czy dodając nowe węzły w konkretnym miejscu. Zobaczmy to na przykładzie.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DOM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 kodu HTML do drzewa DOM</a:t>
            </a:r>
            <a:endParaRPr lang="en-US" sz="2800" dirty="0"/>
          </a:p>
        </p:txBody>
      </p:sp>
      <p:pic>
        <p:nvPicPr>
          <p:cNvPr id="4" name="Image 0" descr="/home/claude/dom-inf03/assets/dom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608" y="1371600"/>
            <a:ext cx="8412480" cy="49827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DOM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Najważniejsze typy węzłów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92808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Węzeł elementu (Element)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6888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Odpowiada znacznikowi HTML, np. &lt;p&gt;, &lt;div&gt;, &lt;h1&gt;. Może mieć atrybuty i węzły potomne.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28232" y="1892808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Węzeł tekstowy (Text)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46888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treść tekstowa wewnątrz elementu — nie jest znacznikiem, tylko „gołym” tekstem.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813048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Węzeł komentarza (Comment)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38912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Odpowiada komentarzowi HTML &lt;!-- ... --&gt; — zwykle pomijany przy przetwarzaniu treści.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6118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8232" y="3813048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 (Document)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438912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Korzeń całego drzewa — reprezentowany w JavaScript przez globalny obiekt document.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DOM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Obiekty document i window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37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to obiekt globalny reprezentujący całe okno przeglądarki — udostępnia m.in. alert(), setTimeout() czy rozmiar okna.</a:t>
            </a:r>
            <a:endParaRPr lang="en-US" sz="137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37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to własność obiektu window i jednocześnie korzeń drzewa DOM — to od niego zaczynamy niemal każde wyszukiwanie elementów.</a:t>
            </a:r>
            <a:endParaRPr lang="en-US" sz="1370" dirty="0"/>
          </a:p>
          <a:p>
            <a:pPr marL="228600" indent="-228600">
              <a:lnSpc>
                <a:spcPct val="112000"/>
              </a:lnSpc>
              <a:spcAft>
                <a:spcPts val="1100"/>
              </a:spcAft>
              <a:buSzPct val="100000"/>
              <a:buChar char="▪"/>
            </a:pPr>
            <a:r>
              <a:rPr lang="en-US" sz="137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praktyce słowo window pomija się w kodzie — window.document.querySelector(...) i document.querySelector(...) działają identycznie.</a:t>
            </a:r>
            <a:endParaRPr lang="en-US" sz="137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2103120"/>
          </a:xfrm>
          <a:prstGeom prst="roundRect">
            <a:avLst>
              <a:gd name="adj" fmla="val 3913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691640"/>
            <a:ext cx="475488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37944"/>
            <a:ext cx="475488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99732" y="179679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7173468" y="179679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7204" y="179679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93976"/>
            <a:ext cx="43891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window.document === document; </a:t>
            </a:r>
            <a:r>
              <a:rPr lang="en-US" sz="108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document.title;         </a:t>
            </a:r>
            <a:r>
              <a:rPr lang="en-US" sz="108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tytuł karty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document.body;          </a:t>
            </a:r>
            <a:r>
              <a:rPr lang="en-US" sz="108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znacznik &lt;body&gt;</a:t>
            </a:r>
            <a:endParaRPr lang="en-US" sz="108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8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document.documentElement; </a:t>
            </a:r>
            <a:r>
              <a:rPr lang="en-US" sz="108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&lt;html&gt;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858000" y="397764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4F4F8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4160520"/>
            <a:ext cx="201168" cy="20116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9168" y="4160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4105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Ciekawostka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43484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document.documentElement to węzeł &lt;html&gt; — bezpośrednie „dziecko” całego dokumentu i rodzic zarówno &lt;head&gt;, jak i &lt;body&gt;.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868680" y="28803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Wybieranie elementów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3566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Zanim coś zmienimy na stronie, musimy najpierw „znaleźć” właściwy element w drzewie DOM.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WYBIERANIE ELEMENTÓW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document.getElementById()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Zwraca pojedynczy element o podanym atrybucie id — bez znaku # przed nazwą.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Ponieważ id powinno być unikalne w całym dokumencie, metoda zawsze zwraca co najwyżej jeden element.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w dokumencie nie ma elementu o takim id, metoda zwraca null — warto to sprawdzić, zanim użyjemy wyniku.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jedna z najstarszych i najszybszych metod wyszukiwania — dostępna w JavaScript od samego początku.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2834640"/>
          </a:xfrm>
          <a:prstGeom prst="roundRect">
            <a:avLst>
              <a:gd name="adj" fmla="val 2903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691640"/>
            <a:ext cx="475488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37944"/>
            <a:ext cx="475488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99732" y="179679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7173468" y="179679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7204" y="179679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+ 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93976"/>
            <a:ext cx="43891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id=</a:t>
            </a:r>
            <a:r>
              <a:rPr lang="en-US" sz="115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"tytul"</a:t>
            </a:r>
            <a:r>
              <a:rPr lang="en-US" sz="115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&gt;Witaj!&lt;/h1&gt;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5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= document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.getElementById(</a:t>
            </a:r>
            <a:r>
              <a:rPr lang="en-US" sz="115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"tytul"</a:t>
            </a:r>
            <a:r>
              <a:rPr lang="en-US" sz="115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console.log(el.textContent);</a:t>
            </a:r>
            <a:endParaRPr lang="en-US" sz="11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5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"Witaj!"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0" y="470916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4F4F8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4892040"/>
            <a:ext cx="201168" cy="20116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9168" y="4892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48371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5166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elementu o danym id → getElementById zwraca null, a nie błąd.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WYBIERANIE ELEMENTÓW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querySelector() i querySelectorAll()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3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 metody przyjmują dowolny selektor CSS (np. "#id", ".klasa", "ul li", "[data-rola]") — dzięki temu jedna metoda zastępuje wiele wąskich.</a:t>
            </a:r>
            <a:endParaRPr lang="en-US" sz="123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3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querySelector() zwraca tylko pierwszy pasujący element w dokumencie — lub null, jeśli nic nie pasuje.</a:t>
            </a:r>
            <a:endParaRPr lang="en-US" sz="123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3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querySelectorAll() zwraca wszystkie pasujące elementy jako statyczną listę NodeList — jej zawartość NIE aktualizuje się automatycznie.</a:t>
            </a:r>
            <a:endParaRPr lang="en-US" sz="123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3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NodeList można iterować pętlą for...of albo metodą forEach() — tak samo jak po tablicy.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3246120"/>
          </a:xfrm>
          <a:prstGeom prst="roundRect">
            <a:avLst>
              <a:gd name="adj" fmla="val 2535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691640"/>
            <a:ext cx="475488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37944"/>
            <a:ext cx="475488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99732" y="179679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7173468" y="179679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7204" y="179679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93976"/>
            <a:ext cx="438912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6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pierwszy = document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</a:t>
            </a:r>
            <a:r>
              <a:rPr lang="en-US" sz="106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".produkt"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wszystkie = document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.querySelectorAll(</a:t>
            </a:r>
            <a:r>
              <a:rPr lang="en-US" sz="106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".produkt"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wszystkie.forEach((el) =&gt; {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el.style.color = </a:t>
            </a:r>
            <a:r>
              <a:rPr lang="en-US" sz="106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"crimson"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58000" y="50749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5257800"/>
            <a:ext cx="201168" cy="20116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9168" y="5257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5202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Selektor CSS = klucz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5532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Selektor działa dokładnie tak, jak w pliku CSS: "#id", ".klasa", "tag".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WYBIERANIE ELEMENTÓW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Kolekcje „żywe” a statyczne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getElementsByClassName() i getElementsByTagName() zwracają HTMLCollection — kolekcję „żywą” (live), która automatycznie aktualizuje się, gdy dokument się zmienia.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querySelectorAll() zwraca NodeList — kolekcję statyczną: zapamiętuje elementy z momentu wywołania i nie „widzi” późniejszych zmian w dokumencie.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ważna różnica przy dynamicznym dodawaniu lub usuwaniu elementów — wybór złej metody może prowadzić do nieoczekiwanych błędów w pętli.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5760720" cy="2103120"/>
          </a:xfrm>
          <a:prstGeom prst="roundRect">
            <a:avLst>
              <a:gd name="adj" fmla="val 3913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4069080"/>
            <a:ext cx="576072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215384"/>
            <a:ext cx="576072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0372" y="417423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864108" y="417423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1037844" y="417423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0690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kolekcja żywa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471416"/>
            <a:ext cx="5394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6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live = document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.getElementsByClassName(</a:t>
            </a:r>
            <a:r>
              <a:rPr lang="en-US" sz="106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"item"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console.log(live.length); </a:t>
            </a:r>
            <a:r>
              <a:rPr lang="en-US" sz="106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np. 3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 dodaniu nowego .item: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console.log(live.length); </a:t>
            </a:r>
            <a:r>
              <a:rPr lang="en-US" sz="106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 — "żywa"!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492240" y="406908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4F4F8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93408" y="4251960"/>
            <a:ext cx="201168" cy="20116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93408" y="4251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41970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Zapamiętaj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452628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Nazwa metody nie mówi wszystkiego — trzeba pamiętać, które zwracają kolekcję żywą (getElementsBy...), a które statyczną (querySelectorAll).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WYBIERANIE ELEMENTÓW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Nawigacja od znalezionego elementu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znalezieniu jednego elementu można „poruszać się” po drzewie względem niego — bez ponownego przeszukiwania całego dokumentu.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parentElement, children, nextElementSibling i previousElementSibling to najczęściej używane właściwości nawigacyjne.</a:t>
            </a:r>
            <a:endParaRPr lang="en-US" sz="1350" dirty="0"/>
          </a:p>
        </p:txBody>
      </p:sp>
      <p:pic>
        <p:nvPicPr>
          <p:cNvPr id="5" name="Image 0" descr="/home/claude/dom-inf03/assets/node_nav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8" y="2788920"/>
            <a:ext cx="9692640" cy="39723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868680" y="28803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Odczyt i zmiana treści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3566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mamy już element, możemy odczytać lub zmienić jego zawartość, wygląd i atrybuty.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I ZMIANA TREŚCI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textContent a innerHTML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odczytuje lub ustawia czysty tekst elementu — wszystko, co wstawimy, trafia na stronę dosłownie, bez interpretowania jako HTML.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innerHTML odczytuje lub ustawia zawartość jako kod HTML — przeglądarka analizuje wstawiony ciąg znaków i tworzy z niego nowe elementy.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Ustawianie innerHTML danymi wpisanymi przez użytkownika jest ryzykowne (może umożliwić wstrzyknięcie złośliwego kodu) — do samego tekstu bezpieczniejszy jest textContent.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3017520"/>
          </a:xfrm>
          <a:prstGeom prst="roundRect">
            <a:avLst>
              <a:gd name="adj" fmla="val 2727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691640"/>
            <a:ext cx="475488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37944"/>
            <a:ext cx="475488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99732" y="179679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7173468" y="179679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7204" y="179679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93976"/>
            <a:ext cx="438912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3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3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= document</a:t>
            </a:r>
            <a:endParaRPr lang="en-US" sz="103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3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</a:t>
            </a:r>
            <a:r>
              <a:rPr lang="en-US" sz="103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"#opis"</a:t>
            </a:r>
            <a:r>
              <a:rPr lang="en-US" sz="103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3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3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3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3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el.innerHTML = </a:t>
            </a:r>
            <a:r>
              <a:rPr lang="en-US" sz="103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"&lt;b&gt;Pogrubione&lt;/b&gt;"</a:t>
            </a:r>
            <a:r>
              <a:rPr lang="en-US" sz="103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3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3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wstawia POGRUBIONY tekst</a:t>
            </a:r>
            <a:endParaRPr lang="en-US" sz="103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3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3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3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el.textContent = </a:t>
            </a:r>
            <a:r>
              <a:rPr lang="en-US" sz="103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"&lt;b&gt;Pogrubione&lt;/b&gt;"</a:t>
            </a:r>
            <a:r>
              <a:rPr lang="en-US" sz="103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3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3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wstawia LITERALNY napis &lt;b&gt;...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858000" y="48920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4F4F8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5074920"/>
            <a:ext cx="201168" cy="20116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9168" y="5074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5020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bezpieczeństwa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5349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Zawartość od użytkownika wstawiaj przez textContent, nie innerHTML.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I ZMIANA TREŚCI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sam ciąg znaków — inny efekt</a:t>
            </a:r>
            <a:endParaRPr lang="en-US" sz="2800" dirty="0"/>
          </a:p>
        </p:txBody>
      </p:sp>
      <p:pic>
        <p:nvPicPr>
          <p:cNvPr id="4" name="Image 0" descr="/home/claude/dom-inf03/assets/conte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8" y="1600200"/>
            <a:ext cx="9875520" cy="438027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I ZMIANA TREŚCI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Zarządzanie klasami: classList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Właściwość classList udostępnia wygodne metody do pracy z klasami CSS elementu — bez ręcznego sklejania napisów.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dodaje klasę, remove() usuwa, a toggle() przełącza jej obecność — dokładnie tak jak przełącznik.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contains() sprawdza, czy element ma daną klasę, i zwraca wartość logiczną true lub false.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zdecydowanie czytelniejszy sposób zmiany wyglądu niż bezpośrednia edycja atrybutu class jako tekstu.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3246120"/>
          </a:xfrm>
          <a:prstGeom prst="roundRect">
            <a:avLst>
              <a:gd name="adj" fmla="val 2535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691640"/>
            <a:ext cx="475488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37944"/>
            <a:ext cx="475488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99732" y="179679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7173468" y="179679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7204" y="179679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93976"/>
            <a:ext cx="438912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box = document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".karta"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box.classList.add(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"aktywna"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box.classList.remove(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"ukryta"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box.classList.toggle(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"zaznaczona"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(box.classList.contains(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"aktywna"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"Karta jest aktywna"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I ZMIANA TREŚCI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 w linii i atrybuty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7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Właściwość style pozwala ustawić pojedynczą regułę CSS bezpośrednio na elemencie (styl „w linii”) — nazwy CSS z myślnikiem zapisujemy w JS jako camelCase, np. background-color → backgroundColor.</a:t>
            </a:r>
            <a:endParaRPr lang="en-US" sz="127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7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getAttribute() i setAttribute() odczytują i ustawiają dowolny atrybut HTML, np. src, href czy atrybuty data-*.</a:t>
            </a:r>
            <a:endParaRPr lang="en-US" sz="1270" dirty="0"/>
          </a:p>
          <a:p>
            <a:pPr marL="228600" indent="-228600">
              <a:lnSpc>
                <a:spcPct val="112000"/>
              </a:lnSpc>
              <a:spcAft>
                <a:spcPts val="900"/>
              </a:spcAft>
              <a:buSzPct val="100000"/>
              <a:buChar char="▪"/>
            </a:pPr>
            <a:r>
              <a:rPr lang="en-US" sz="127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hasAttribute() sprawdza istnienie atrybutu, a removeAttribute() go usuwa.</a:t>
            </a:r>
            <a:endParaRPr lang="en-US" sz="127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3383280"/>
          </a:xfrm>
          <a:prstGeom prst="roundRect">
            <a:avLst>
              <a:gd name="adj" fmla="val 2432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691640"/>
            <a:ext cx="475488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37944"/>
            <a:ext cx="475488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99732" y="179679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7173468" y="179679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7204" y="179679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93976"/>
            <a:ext cx="438912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btn = document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btn.style.backgroundColor = 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"teal"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btn.style.fontWeight = 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"bold"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btn.setAttribute(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"disabled"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btn.hasAttribute(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"disabled"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100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btn.removeAttribute(</a:t>
            </a:r>
            <a:r>
              <a:rPr lang="en-US" sz="10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"disabled"</a:t>
            </a:r>
            <a:r>
              <a:rPr lang="en-US" sz="10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521208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4F4F8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5394960"/>
            <a:ext cx="201168" cy="20116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9168" y="5394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5340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praktyce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5669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wielu zmian stylu naraz lepiej użyć classList niż wielu linii style.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868680" y="28803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Tworzenie i usuwanie elementów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3566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Strony internetowe rzadko są całkowicie statyczne — JavaScript potrafi dobudować lub usunąć fragment drzewa DOM.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I USUWANIE ELEMENTÓW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Tworzenie nowych elementów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4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document.createElement("tag") tworzy nowy, jeszcze „osierocony” węzeł elementu — istnieje w pamięci, ale nie jest częścią strony.</a:t>
            </a:r>
            <a:endParaRPr lang="en-US" sz="124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4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 utworzony element trzeba dopiero umieścić w drzewie — najczęściej metodą append() na wybranym rodzicu.</a:t>
            </a:r>
            <a:endParaRPr lang="en-US" sz="124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4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Zanim dodamy element do strony, możemy ustawić jego treść (textContent), klasy (classList) czy atrybuty — dokładnie jak w elementach już istniejących.</a:t>
            </a:r>
            <a:endParaRPr lang="en-US" sz="1240" dirty="0"/>
          </a:p>
          <a:p>
            <a:pPr marL="228600" indent="-2286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4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przyjmuje jeden lub więcej węzłów albo ciągów tekstu; starsza metoda appendChild() przyjmuje dokładnie jeden węzeł.</a:t>
            </a:r>
            <a:endParaRPr lang="en-US" sz="124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3429000"/>
          </a:xfrm>
          <a:prstGeom prst="roundRect">
            <a:avLst>
              <a:gd name="adj" fmla="val 2400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691640"/>
            <a:ext cx="475488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37944"/>
            <a:ext cx="475488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99732" y="179679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7173468" y="179679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7204" y="179679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93976"/>
            <a:ext cx="438912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6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 = document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</a:t>
            </a:r>
            <a:r>
              <a:rPr lang="en-US" sz="106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"#lista"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= document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.createElement(</a:t>
            </a:r>
            <a:r>
              <a:rPr lang="en-US" sz="106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"li"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el.textContent = </a:t>
            </a:r>
            <a:r>
              <a:rPr lang="en-US" sz="106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"Nowy element"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el.classList.add(</a:t>
            </a:r>
            <a:r>
              <a:rPr lang="en-US" sz="106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"pozycja"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lista.append(el);</a:t>
            </a:r>
            <a:endParaRPr lang="en-US" sz="106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I USUWANIE ELEMENTÓW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Usuwanie elementów ze strony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element.remove() usuwa element ze strony bezpośrednio — nowoczesna i najprostsza metoda, nie wymaga odwoływania się do rodzica.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Starszy zapis: rodzic.removeChild(element) — trzeba znać referencję do elementu nadrzędnego (parentElement).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Usunięty element nadal istnieje w pamięci JavaScript (jeśli mamy do niego referencję w zmiennej), ale znika z widocznego dokumentu.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2834640"/>
          </a:xfrm>
          <a:prstGeom prst="roundRect">
            <a:avLst>
              <a:gd name="adj" fmla="val 2903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0" y="1691640"/>
            <a:ext cx="475488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37944"/>
            <a:ext cx="475488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99732" y="179679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7173468" y="179679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7347204" y="179679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93976"/>
            <a:ext cx="43891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6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= document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.querySelector(</a:t>
            </a:r>
            <a:r>
              <a:rPr lang="en-US" sz="106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".pozycja"</a:t>
            </a: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el.remove(); </a:t>
            </a:r>
            <a:r>
              <a:rPr lang="en-US" sz="106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nowoczesny sposób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starszy zapis (dwa kroki):</a:t>
            </a:r>
            <a:endParaRPr lang="en-US" sz="106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6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el.parentElement.removeChild(el);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58000" y="470916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4F4F8"/>
          </a:solidFill>
          <a:ln w="19050">
            <a:solidFill>
              <a:srgbClr val="0E95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4892040"/>
            <a:ext cx="201168" cy="20116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9168" y="4892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48371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praktyce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5166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dzisiejszych lekcjach i w nowym kodzie preferuj remove() — jest krótsze i czytelniejsze.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I USUWANIE ELEMENTÓW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Przykład: budowanie listy z tablicy danych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Połączmy poznane metody: tworzymy pustą listę w HTML, a jej zawartość generujemy w całości z poziomu JavaScript, na podstawie tablicy danych.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4415" cy="3931920"/>
          </a:xfrm>
          <a:prstGeom prst="roundRect">
            <a:avLst>
              <a:gd name="adj" fmla="val 2093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11094415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78024"/>
            <a:ext cx="11094415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90372" y="243687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Shape 7"/>
          <p:cNvSpPr/>
          <p:nvPr/>
        </p:nvSpPr>
        <p:spPr>
          <a:xfrm>
            <a:off x="864108" y="243687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0" name="Shape 8"/>
          <p:cNvSpPr/>
          <p:nvPr/>
        </p:nvSpPr>
        <p:spPr>
          <a:xfrm>
            <a:off x="1037844" y="243687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3172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734056"/>
            <a:ext cx="10728655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owoce = [</a:t>
            </a:r>
            <a:r>
              <a:rPr lang="en-US" sz="13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"Jabłko"</a:t>
            </a: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"Gruszka"</a:t>
            </a: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"Śliwka"</a:t>
            </a: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 = document.querySelector(</a:t>
            </a:r>
            <a:r>
              <a:rPr lang="en-US" sz="13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"#owoce"</a:t>
            </a: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owoce.forEach((nazwa) =&gt; {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 = document.createElement(</a:t>
            </a:r>
            <a:r>
              <a:rPr lang="en-US" sz="13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"li"</a:t>
            </a: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li.textContent = nazwa;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li.classList.add(</a:t>
            </a:r>
            <a:r>
              <a:rPr lang="en-US" sz="13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"owoc"</a:t>
            </a: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lista.append(li);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usunięcie pierwszej pozycji z listy:</a:t>
            </a:r>
            <a:endParaRPr lang="en-US" sz="13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lista.firstElementChild.remove();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TWORZENIE I USUWANIE ELEMENTÓW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Dobre praktyki pracy z DOM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Zapisuj wynik selektora w zmiennej zamiast wywoływać querySelector() wielokrotnie dla tego samego elementu — to szybsze i czytelniejsze.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Sprawdzaj, czy selektor faktycznie coś znalazł (element !== null), zanim wywołasz na nim metodę — inaczej otrzymasz błąd.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dodawaniu wielu elementów naraz rozważ zbudowanie ich w pamięci i dopiero jednorazowe dołączenie do strony — częste odwołania do DOM są kosztowne wydajnościowo.</a:t>
            </a:r>
            <a:endParaRPr lang="en-US" sz="1400" dirty="0"/>
          </a:p>
          <a:p>
            <a:pPr marL="228600" indent="-228600">
              <a:lnSpc>
                <a:spcPct val="1120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wstawiania zwykłego tekstu używaj textContent; innerHTML zarezerwuj dla przypadków, gdy naprawdę potrzebujesz wstawić znaczniki HTML.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2C2C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868680" y="28803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Podsumowanie i zapowiedź jQuery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35661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Utrwalmy poznane metody i zobaczmy, jaki problem sprzed lat miała rozwiązać biblioteka jQuery.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Ćwiczenia utrwalające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Znajdź wszystkie elementy z klasą .produkt i ustaw im kolor tekstu na czerwony.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Za pomocą getElementById sprawdź, czy element o id="opis" istnieje; jeśli tak — wypisz w konsoli jego textContent.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Utwórz nowy element &lt;li&gt; z treścią "Nowy element" i dodaj go na koniec listy o id="lista".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Zmień wygląd elementu, zamieniając klasę "nieaktywny" na "aktywny" za pomocą metod classList.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Napisz kod, który usuwa pierwszy element listy &lt;ul id="lista"&gt; ze strony.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Ściągawka — najważniejsze metody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922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getElementById(id)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o danym id (lub null)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9689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querySelector(sel)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0779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pasujący element (lub null)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0156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querySelectorAll(sel)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124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statyczna lista wszystkich pasujących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4151376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20624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getElementsByClassName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1713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„żywa” kolekcja wg klasy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1091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3218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czysty tekst elementu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5760720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8155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6126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zawartość jako kod HTML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172200" y="1737360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7922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classList.add/remove/toggle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10312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klasami CSS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72200" y="2542032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259689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style.własność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90779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pojedyncza reguła CSS w linii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172200" y="3346704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340156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getAttribute/setAttribute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371246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odczyt/zapis atrybutu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72200" y="4151376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55080" y="420624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createElement(tag)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451713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nowy, jeszcze niedołączony węzeł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172200" y="4956048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501091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append(...)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532180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dodanie węzła (węzłów) do rodzica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172200" y="5760720"/>
            <a:ext cx="5349240" cy="694944"/>
          </a:xfrm>
          <a:prstGeom prst="roundRect">
            <a:avLst>
              <a:gd name="adj" fmla="val 7895"/>
            </a:avLst>
          </a:prstGeom>
          <a:solidFill>
            <a:srgbClr val="F4F4F8"/>
          </a:solidFill>
          <a:ln w="12700">
            <a:solidFill>
              <a:srgbClr val="DADA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55080" y="58155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9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remove()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61264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usunięcie elementu ze strony</a:t>
            </a:r>
            <a:endParaRPr lang="en-US" sz="108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ZAPOWIEDŹ JQUERY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co w ogóle powstało jQuery?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to biblioteka JavaScript, która powstała w 2006 roku, gdy przeglądarki różniły się znacznie bardziej niż dziś — ten sam kod DOM mógł działać inaczej w każdej z nich.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 ujednolicało te różnice pod jednym, prostym interfejsem opartym na funkcji $() oraz łańcuchowaniu metod (method chaining).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przeglądarki są znacznie bardziej zgodne ze standardami, a sam JavaScript i DOM oferują wygodne metody (poznane dziś) — dlatego zapotrzebowanie na jQuery jest mniejsze niż kiedyś.</a:t>
            </a:r>
            <a:endParaRPr lang="en-US" sz="133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3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 to jQuery wciąż jest obecne w wielu starszych i działających projektach — dlatego warto rozumieć jego składnię.</a:t>
            </a:r>
            <a:endParaRPr lang="en-US" sz="133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ZAPOWIEDŹ JQUERY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sam efekt — dwie składnie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83664"/>
            <a:ext cx="539496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7" name="Shape 5"/>
          <p:cNvSpPr/>
          <p:nvPr/>
        </p:nvSpPr>
        <p:spPr>
          <a:xfrm>
            <a:off x="690372" y="184251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Shape 6"/>
          <p:cNvSpPr/>
          <p:nvPr/>
        </p:nvSpPr>
        <p:spPr>
          <a:xfrm>
            <a:off x="864108" y="184251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9" name="Shape 7"/>
          <p:cNvSpPr/>
          <p:nvPr/>
        </p:nvSpPr>
        <p:spPr>
          <a:xfrm>
            <a:off x="1037844" y="184251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7373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 (DOM)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139696"/>
            <a:ext cx="502920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czysty JavaScript (DOM)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.querySelectorAll(</a:t>
            </a:r>
            <a:r>
              <a:rPr lang="en-US" sz="12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".item"</a:t>
            </a: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.forEach((el) =&gt; {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el.classList.add(</a:t>
            </a:r>
            <a:r>
              <a:rPr lang="en-US" sz="12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"active"</a:t>
            </a: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1957"/>
            </a:avLst>
          </a:prstGeom>
          <a:solidFill>
            <a:srgbClr val="232333"/>
          </a:solidFill>
          <a:ln w="12700">
            <a:solidFill>
              <a:srgbClr val="1C1C28"/>
            </a:solidFill>
            <a:prstDash val="solid"/>
          </a:ln>
          <a:effectLst>
            <a:outerShdw blurRad="762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737360"/>
            <a:ext cx="5120640" cy="292608"/>
          </a:xfrm>
          <a:prstGeom prst="roundRect">
            <a:avLst>
              <a:gd name="adj" fmla="val 28125"/>
            </a:avLst>
          </a:prstGeom>
          <a:solidFill>
            <a:srgbClr val="1C1C2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883664"/>
            <a:ext cx="5120640" cy="146304"/>
          </a:xfrm>
          <a:prstGeom prst="rect">
            <a:avLst/>
          </a:prstGeom>
          <a:solidFill>
            <a:srgbClr val="1C1C28"/>
          </a:solidFill>
          <a:ln/>
        </p:spPr>
      </p:sp>
      <p:sp>
        <p:nvSpPr>
          <p:cNvPr id="15" name="Shape 13"/>
          <p:cNvSpPr/>
          <p:nvPr/>
        </p:nvSpPr>
        <p:spPr>
          <a:xfrm>
            <a:off x="6633972" y="1842516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07708" y="1842516"/>
            <a:ext cx="82296" cy="82296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1444" y="1842516"/>
            <a:ext cx="82296" cy="82296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17373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skrypt.js (jQuery)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693408" y="2139696"/>
            <a:ext cx="475488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8B8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jQuery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</a:t>
            </a:r>
            <a:r>
              <a:rPr lang="en-US" sz="12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".item"</a:t>
            </a: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).addClass(</a:t>
            </a:r>
            <a:r>
              <a:rPr lang="en-US" sz="1200" dirty="0">
                <a:solidFill>
                  <a:srgbClr val="7FE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"active"</a:t>
            </a: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4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2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DZIĘKUJĘ ZA UWAGĘ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kolejnych zajęciach: jQuery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i materiały do dalszej nauki: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54680"/>
            <a:ext cx="9601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8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Introduction to the DOM (developer.mozilla.org/docs/Web/API/Document_Object_Model)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8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Document, Element, Node (developer.mozilla.org/docs/Web/API)</a:t>
            </a:r>
            <a:endParaRPr lang="en-US" sz="130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D8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jQuery (developer.mozilla.org/docs/Glossary/jQuery)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INF.03 • JavaScript — model DOM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2606</Words>
  <Application>Microsoft Office PowerPoint</Application>
  <PresentationFormat>Niestandardowy</PresentationFormat>
  <Paragraphs>411</Paragraphs>
  <Slides>29</Slides>
  <Notes>29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0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ZSE Śrem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DOM w JavaScript — wprowadzenie przed jQuery</dc:title>
  <dc:subject>PptxGenJS Presentation</dc:subject>
  <dc:creator>Tomasz Majchrzak</dc:creator>
  <cp:lastModifiedBy>Tomasz Majchrzak</cp:lastModifiedBy>
  <cp:revision>2</cp:revision>
  <dcterms:created xsi:type="dcterms:W3CDTF">2026-09-21T11:47:10Z</dcterms:created>
  <dcterms:modified xsi:type="dcterms:W3CDTF">2026-09-24T07:04:09Z</dcterms:modified>
  <cp:contentStatus>Wersja ostateczna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