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-396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11342-E310-4063-8658-59F1B8537BA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7CE2A-70DF-4F83-A7C1-ADA4E6AEA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23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F2A93B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052560" y="448056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9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jQuery</a:t>
            </a:r>
            <a:endParaRPr lang="en-US" sz="6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DC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Podstawy biblioteki JavaScript — wyszukiwanie elementów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DC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pobieranie ich zawartości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50292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Materiały do zajęć  ·  kwalifikacja INF.04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zajęć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dzisiaj poznamy?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459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Czym jest jQuery i do czego służy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8424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Definicja, cel, kontekst historyczny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5603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dołączyć bibliotekę do strony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89864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oraz plik lokalny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4747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Wyszukiwanie elementów — selektory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81304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Znacznik, klasa, id, atrybut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3891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Pobieranie zawartości elementów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72744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text(), html(), val(), attr()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3035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praktyczne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64184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Samodzielna praca z kodem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podstawy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Czym jest jQuery?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212080" cy="2880360"/>
          </a:xfrm>
          <a:prstGeom prst="roundRect">
            <a:avLst>
              <a:gd name="adj" fmla="val 3175"/>
            </a:avLst>
          </a:prstGeom>
          <a:solidFill>
            <a:srgbClr val="DCEE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463040"/>
            <a:ext cx="4617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</a:t>
            </a:r>
            <a:r>
              <a:rPr lang="en-US" sz="15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biblioteka (zbiór gotowych, przetestowanych funkcji) napisana w języku JavaScript.
Ułatwia pisanie skryptów działających w przeglądarce internetowej — np. wyszukiwanie elementów HTML, zmianę ich zawartości, reagowanie na zdarzenia (kliknięcia, wysłanie formularza) czy tworzenie animacji.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080760" y="1234440"/>
            <a:ext cx="2651760" cy="1280160"/>
          </a:xfrm>
          <a:prstGeom prst="roundRect">
            <a:avLst>
              <a:gd name="adj" fmla="val 6429"/>
            </a:avLst>
          </a:prstGeom>
          <a:solidFill>
            <a:srgbClr val="0B3D5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1344168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Wyszukiwanie i modyfikacja</a:t>
            </a:r>
            <a:endParaRPr lang="en-US" sz="12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elementów HTML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915400" y="1234440"/>
            <a:ext cx="2651760" cy="1280160"/>
          </a:xfrm>
          <a:prstGeom prst="roundRect">
            <a:avLst>
              <a:gd name="adj" fmla="val 6429"/>
            </a:avLst>
          </a:prstGeom>
          <a:solidFill>
            <a:srgbClr val="0B3D5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0525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1344168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Obsługa zdarzeń</a:t>
            </a:r>
            <a:endParaRPr lang="en-US" sz="12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(kliknięcia, formularze)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2697480"/>
            <a:ext cx="2651760" cy="1280160"/>
          </a:xfrm>
          <a:prstGeom prst="roundRect">
            <a:avLst>
              <a:gd name="adj" fmla="val 6429"/>
            </a:avLst>
          </a:prstGeom>
          <a:solidFill>
            <a:srgbClr val="0B3D5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807208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Animacje i efekty</a:t>
            </a:r>
            <a:endParaRPr lang="en-US" sz="12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wizualne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15400" y="2697480"/>
            <a:ext cx="2651760" cy="1280160"/>
          </a:xfrm>
          <a:prstGeom prst="roundRect">
            <a:avLst>
              <a:gd name="adj" fmla="val 6429"/>
            </a:avLst>
          </a:prstGeom>
          <a:solidFill>
            <a:srgbClr val="0B3D5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5256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0" y="2807208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Komunikacja z serwerem</a:t>
            </a:r>
            <a:endParaRPr lang="en-US" sz="12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(AJAX)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„Write less, do more” — napisz mniej, zrób więcej (motto jQuery)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podstawy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Trochę historii i kontekstu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29844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zostało opublikowane w 2006 roku przez Johna Resiga.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411480" cy="41148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5000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Powstało, by ułatwić pisanie kodu JavaScript działającego jednakowo w różnych przeglądarkach — kiedyś różnice między przeglądarkami były dużym problemem programistów.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40156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zwykły plik .js — po dołączeniu do strony udostępnia funkcję $ (lub jQuery), której używamy w kodzie.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411480" cy="41148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45312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Dziś nowoczesny JavaScript ma wiele wbudowanych możliwości podobnych do jQuery, ale biblioteka jest wciąż stosowana w wielu istniejących projektach i pojawia się w programie kwalifikacji INF.04.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podstawy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dołączyć jQuery do strony?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DCEE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internetu (CDN)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9086" y="2039112"/>
            <a:ext cx="468303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3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50" dirty="0" smtClean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</a:t>
            </a:r>
            <a:r>
              <a:rPr lang="pl-PL" sz="1350" dirty="0" smtClean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 err="1" smtClean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3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="https</a:t>
            </a:r>
            <a:r>
              <a:rPr lang="en-US" sz="1350" dirty="0" smtClean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://code.jquery.com/jquery-4.0.0.min.js </a:t>
            </a:r>
            <a:r>
              <a:rPr lang="en-US" sz="13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"&gt;&lt;/script</a:t>
            </a:r>
            <a:r>
              <a:rPr lang="en-US" sz="1350" dirty="0" smtClean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pl-PL" sz="1350" dirty="0" smtClean="0">
              <a:solidFill>
                <a:srgbClr val="E8F1F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Najprostszy sposób — nie trzeba pobierać żadnego pliku, wystarczy dostęp do internetu.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234440"/>
            <a:ext cx="5623560" cy="2377440"/>
          </a:xfrm>
          <a:prstGeom prst="roundRect">
            <a:avLst>
              <a:gd name="adj" fmla="val 3846"/>
            </a:avLst>
          </a:prstGeom>
          <a:solidFill>
            <a:srgbClr val="DCEE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1417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pliku lokalnego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5166360" cy="594360"/>
          </a:xfrm>
          <a:prstGeom prst="roundRect">
            <a:avLst>
              <a:gd name="adj" fmla="val 12308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2039112"/>
            <a:ext cx="4709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src="js/jquery.min.js"&gt;&lt;/script&gt;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606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Pobieramy plik jquery.js (lub jquery.min.js) i dołączamy go tak jak własny skrypt — bez dostępu do internetu.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B3D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0690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Ważne: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&lt;script&gt; z jQuery musi znaleźć się PRZED skryptem, który korzysta z jQuery — najczęściej tuż przed znacznikiem &lt;/body&gt; lub przed własnym plikiem .js.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podstawy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Podstawowa składnia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Każde wywołanie jQuery ma postać:  </a:t>
            </a:r>
            <a:r>
              <a:rPr lang="en-US" sz="17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$(selektor).metoda(argumenty);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jQuery umieszczamy wewnątrz funkcji, która czeka, aż cała strona (dokument) zostanie wczytana: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359152"/>
            <a:ext cx="50292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$(document).ready(function() {
</a:t>
            </a:r>
            <a:r>
              <a:rPr lang="en-US" sz="13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Twój kod jQuery —
    // wykona się, gdy strona
    // jest w pełni wczytana
</a:t>
            </a:r>
            <a:r>
              <a:rPr lang="en-US" sz="13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1945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2359152"/>
            <a:ext cx="493776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$(function() {
</a:t>
            </a:r>
            <a:r>
              <a:rPr lang="en-US" sz="13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to samo — krótszy,
    // często stosowany zapis
</a:t>
            </a:r>
            <a:r>
              <a:rPr lang="en-US" sz="13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});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DCEE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343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to ważne? </a:t>
            </a: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</a:t>
            </a:r>
            <a:r>
              <a:rPr lang="en-US" sz="1450" dirty="0" err="1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skrypt</a:t>
            </a: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 smtClean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próbuje</a:t>
            </a:r>
            <a:r>
              <a:rPr lang="en-US" sz="1450" dirty="0" smtClean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znaleźć element HTML, zanim przeglądarka go </a:t>
            </a:r>
            <a:r>
              <a:rPr lang="en-US" sz="1450" dirty="0" err="1" smtClean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wczyta</a:t>
            </a:r>
            <a:r>
              <a:rPr lang="pl-PL" sz="1450" dirty="0" err="1" smtClean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ła</a:t>
            </a:r>
            <a:r>
              <a:rPr lang="en-US" sz="1450" dirty="0" smtClean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„nic nie znajdzie”. Oczekiwanie na </a:t>
            </a:r>
            <a:r>
              <a:rPr lang="en-US" sz="14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ready()</a:t>
            </a: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gwarantuje, że cały dokument (DOM) jest już gotowy do przeszukania.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podstawy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Wyszukiwanie elementów — selektory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254513"/>
              </p:ext>
            </p:extLst>
          </p:nvPr>
        </p:nvGraphicFramePr>
        <p:xfrm>
          <a:off x="548640" y="1234440"/>
          <a:ext cx="11064240" cy="4206237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2743200"/>
                <a:gridCol w="3108960"/>
              </a:tblGrid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Typ selektora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Zapis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Przykład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Co wybiera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Znacznik (tag)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$("znacznik")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$("p")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wszystkie akapity </a:t>
                      </a:r>
                      <a:r>
                        <a:rPr lang="en-US" sz="1350" b="1" dirty="0">
                          <a:solidFill>
                            <a:srgbClr val="16232B"/>
                          </a:solidFill>
                        </a:rPr>
                        <a:t>&lt;p&gt;</a:t>
                      </a:r>
                      <a:endParaRPr lang="en-US" sz="1350" b="1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Klasa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$(".klasa")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$(".aktywny")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elementy z </a:t>
                      </a:r>
                      <a:r>
                        <a:rPr lang="en-US" sz="1350" b="1" dirty="0">
                          <a:solidFill>
                            <a:srgbClr val="16232B"/>
                          </a:solidFill>
                        </a:rPr>
                        <a:t>class="aktywny"</a:t>
                      </a:r>
                      <a:endParaRPr lang="en-US" sz="1350" b="1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Identyfikator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$("#id")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$("#login")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element z </a:t>
                      </a:r>
                      <a:r>
                        <a:rPr lang="en-US" sz="1350" b="1" dirty="0">
                          <a:solidFill>
                            <a:srgbClr val="16232B"/>
                          </a:solidFill>
                        </a:rPr>
                        <a:t>id="login"</a:t>
                      </a:r>
                      <a:endParaRPr lang="en-US" sz="1350" b="1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Atrybut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$("[atrybut]")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$("[type='text']")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elementy z danym atrybutem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Łączenie selektorów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$("s1, s2")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$("p, .info")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akapity </a:t>
                      </a:r>
                      <a:r>
                        <a:rPr lang="en-US" sz="1350" b="1" dirty="0">
                          <a:solidFill>
                            <a:srgbClr val="16232B"/>
                          </a:solidFill>
                        </a:rPr>
                        <a:t>ORAZ</a:t>
                      </a: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 elementy .info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Zagnieżdżenie (potomek)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$("rodzic potomek")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$("div p")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akapity wewnątrz </a:t>
                      </a:r>
                      <a:r>
                        <a:rPr lang="en-US" sz="1350" b="1" dirty="0">
                          <a:solidFill>
                            <a:srgbClr val="16232B"/>
                          </a:solidFill>
                        </a:rPr>
                        <a:t>&lt;div&gt;</a:t>
                      </a:r>
                      <a:endParaRPr lang="en-US" sz="1350" b="1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podstawy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Selektory w praktyce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353312"/>
            <a:ext cx="493776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id="produkty"&gt;
  &lt;p class="opis"&gt;Laptop&lt;/p&gt;
  &lt;p class="opis promocja"&gt;
     Telefon&lt;/p&gt;
  &lt;span&gt;Cena&lt;/span&gt;
&lt;/div&gt;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72200" y="118872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DCEE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5508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$("#produkty")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6459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2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cały element &lt;div&gt; </a:t>
            </a:r>
            <a:r>
              <a:rPr lang="en-US" sz="12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 „produkty”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4028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DCEE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$(".opis")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6974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oba akapity — </a:t>
            </a:r>
            <a:r>
              <a:rPr lang="en-US" sz="12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elementy </a:t>
            </a:r>
            <a:r>
              <a:rPr lang="en-US" sz="12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(Laptop, Telefon)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329184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DCEE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$(".promocja")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7490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tylko akapit </a:t>
            </a:r>
            <a:r>
              <a:rPr lang="en-US" sz="12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"Telefon" </a:t>
            </a:r>
            <a:r>
              <a:rPr lang="en-US" sz="12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 obie klasy)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434340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DCEE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$("#produkty span")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48006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element &lt;span&gt;Cena&lt;/span&gt;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podstawy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Pobieranie zawartości: .text() i .html()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353312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id="info"&gt;&lt;b&gt;Ważne:&lt;/b&gt; promocja&lt;/p&gt;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DCEE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.text()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Zwraca (lub ustawia) czysty tekst — bez znaczników HTML — ze wszystkich elementów wewnątrz.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51560" y="3685032"/>
            <a:ext cx="4389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$("#info").text();
</a:t>
            </a:r>
            <a:r>
              <a:rPr lang="en-US" sz="135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"Ważne: promocja"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DCEE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240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.html()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651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pl-PL" sz="1350" dirty="0" smtClean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Zwraca</a:t>
            </a:r>
            <a:r>
              <a:rPr lang="en-US" sz="1350" dirty="0" smtClean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pl-PL" sz="1350" dirty="0" smtClean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albo</a:t>
            </a:r>
            <a:r>
              <a:rPr lang="en-US" sz="1350" dirty="0" smtClean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ustawia) całą zawartość HTML elementu — razem ze znacznikami.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92240" y="352044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20840" y="3685032"/>
            <a:ext cx="4389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$("#info").html();
</a:t>
            </a:r>
            <a:r>
              <a:rPr lang="en-US" sz="135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"&lt;b&gt;Ważne:&lt;/b&gt; promocja"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podstawy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Pobieranie wartości pól formularza — .val()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</a:t>
            </a:r>
            <a:r>
              <a:rPr lang="en-US" sz="15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.val()</a:t>
            </a:r>
            <a:r>
              <a:rPr lang="en-US" sz="15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służy do odczytywania (i ustawiania) wartości pól formularza</a:t>
            </a:r>
            <a:r>
              <a:rPr lang="en-US" sz="15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&lt;input&gt;, &lt;textarea&gt;, &lt;select</a:t>
            </a:r>
            <a:r>
              <a:rPr lang="en-US" sz="1500" b="1" dirty="0" smtClean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b="1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47672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type="text" id="nazwa" value="Ala"&gt;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816352"/>
            <a:ext cx="49377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$("#nazwa").val();
</a:t>
            </a:r>
            <a:r>
              <a:rPr lang="en-US" sz="14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"Ala"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Odczyt wartości pola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6517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2816352"/>
            <a:ext cx="49377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$("#nazwa").val("</a:t>
            </a:r>
            <a:r>
              <a:rPr lang="en-US" sz="1400" dirty="0" err="1" smtClean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Nowa</a:t>
            </a:r>
            <a:r>
              <a:rPr lang="pl-PL" sz="1400" dirty="0" smtClean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 err="1" smtClean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wartość</a:t>
            </a:r>
            <a:r>
              <a:rPr lang="en-US" sz="14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");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3794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Zmiana (ustawienie) wartości pola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0B3D59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55371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Zapamiętaj: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.text() i .html() </a:t>
            </a:r>
            <a:r>
              <a:rPr lang="pl-PL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działają na polach formularza — do odczytu ich wartości służy właśnie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podstawy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Pobieranie atrybutów — .attr()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</a:t>
            </a:r>
            <a:r>
              <a:rPr lang="en-US" sz="15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.attr("nazwa")</a:t>
            </a:r>
            <a:r>
              <a:rPr lang="en-US" sz="15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zwraca wartość podanego atrybutu HTML elementu (może też go zmieniać).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47672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id="logo" src="logo.png" alt="Logo firmy"&gt;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816352"/>
            <a:ext cx="49377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$("#logo").attr("src");
</a:t>
            </a:r>
            <a:r>
              <a:rPr lang="en-US" sz="135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"logo.png"
</a:t>
            </a:r>
            <a:r>
              <a:rPr lang="en-US" sz="13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$("#logo").attr("alt");
</a:t>
            </a:r>
            <a:r>
              <a:rPr lang="en-US" sz="135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"Logo firmy"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60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Odczyt atrybutu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6517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2816352"/>
            <a:ext cx="49377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$("#logo").</a:t>
            </a:r>
            <a:r>
              <a:rPr lang="en-US" sz="1350" dirty="0" err="1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</a:t>
            </a:r>
            <a:r>
              <a:rPr lang="en-US" sz="1350" dirty="0" smtClean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3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src", "nowe.png</a:t>
            </a:r>
            <a:r>
              <a:rPr lang="en-US" sz="1350" dirty="0" smtClean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");</a:t>
            </a:r>
            <a:r>
              <a:rPr lang="en-US" sz="13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pl-PL" sz="1350" dirty="0" smtClean="0">
              <a:solidFill>
                <a:srgbClr val="E8F1F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pl-PL" sz="13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</a:t>
            </a:r>
            <a:r>
              <a:rPr lang="en-US" sz="1350" dirty="0" smtClean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en-US" sz="135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zmienia atrybut src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4160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Zmiana (ustawienie) atrybutu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podstawy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Cztery najważniejsze metody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108960"/>
        </p:xfrm>
        <a:graphic>
          <a:graphicData uri="http://schemas.openxmlformats.org/drawingml/2006/table">
            <a:tbl>
              <a:tblPr/>
              <a:tblGrid>
                <a:gridCol w="2377440"/>
                <a:gridCol w="5577840"/>
                <a:gridCol w="3108960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Metoda</a:t>
                      </a:r>
                      <a:endParaRPr lang="en-US" sz="15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Do czego służy</a:t>
                      </a:r>
                      <a:endParaRPr lang="en-US" sz="15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Przykład użycia</a:t>
                      </a:r>
                      <a:endParaRPr lang="en-US" sz="15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.text()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32B"/>
                          </a:solidFill>
                        </a:rPr>
                        <a:t>odczyt / zmiana czystego tekstu elementu</a:t>
                      </a:r>
                      <a:endParaRPr lang="en-US" sz="15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$("p").text()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.html()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32B"/>
                          </a:solidFill>
                        </a:rPr>
                        <a:t>odczyt / zmiana kodu HTML wewnątrz elementu</a:t>
                      </a:r>
                      <a:endParaRPr lang="en-US" sz="15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$("div").html()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.val()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32B"/>
                          </a:solidFill>
                        </a:rPr>
                        <a:t>odczyt / zmiana wartości pola formularza</a:t>
                      </a:r>
                      <a:endParaRPr lang="en-US" sz="15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$("input").val()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.attr()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32B"/>
                          </a:solidFill>
                        </a:rPr>
                        <a:t>odczyt / zmiana atrybutu elementu</a:t>
                      </a:r>
                      <a:endParaRPr lang="en-US" sz="15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$("img").attr("src")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DCEEF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4983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Wspólny wzorzec: </a:t>
            </a:r>
            <a:r>
              <a:rPr lang="en-US" sz="1450" dirty="0">
                <a:solidFill>
                  <a:srgbClr val="16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najpierw wybieramy elementy selektorem, potem wywołujemy metodę — $(selektor).metoda(...)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podstawy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Ćwiczenie 1 — dobierz selektor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307592"/>
            <a:ext cx="50292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id="strona"&gt;
  &lt;h1 class="tytul"&gt;Witamy&lt;/h1&gt;
  &lt;p class="tekst"&gt;
     Pierwszy akapit&lt;/p&gt;
  &lt;p class="tekst wyroznienie"&gt;
     Drugi akapit&lt;/p&gt;
  &lt;a href="#" id="link1"&gt;
     Kontakt&lt;/a&gt;
&lt;/div&gt;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Napisz selektor jQuery, który wybierze: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DCEE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6550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element o id „strona”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DCEE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340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wszystkie elementy z klasą „tekst”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63640" y="297180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DCEE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30266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tylko akapit z klasą „wyroznienie”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63640" y="365760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DCEE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37124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link o id „link1”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podstawy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Ćwiczenie 2 — pobierz zawartość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307592"/>
            <a:ext cx="50292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id="cena"&gt;&lt;b&gt;99,99 zł&lt;/b&gt;&lt;/p&gt;
&lt;input type="text" id="email"
       value="jan@szkola.pl"&gt;
&lt;img id="zdjecie" src="foto.jpg"
     alt="Zdjęcie produktu"&gt;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1430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Napisz kod jQuery, który pobierze i wypisze w konsoli (console.log) 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DCEE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74650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czysty tekst z akapitu #cena (bez &lt;b&gt;)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350008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DCEE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4048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kod HTML akapitu #cena (razem z &lt;b&gt;)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3008376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DCEE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3063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wartość pola #email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3666744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DCEE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37216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atrybut alt obrazka #zdjecie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podstawy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Ćwiczenie 3 — znajdź błąd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poniższym kodzie jQuery są 3 błędy. Znajdź je i zapisz poprawną wersję kodu.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64792"/>
            <a:ext cx="106070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$(document.ready(function() {
    var tekst = $(".opis).html;
    console.log(tekst)
});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DCEE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Wskazówki: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708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Sprawdź rozmieszczenie nawiasów wokół document — czy .ready() jest wywołane na właściwym obiekcie?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8231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Sprawdź selektor $(".opis) — czy wszystkie znaki w cudzysłowie są poprawnie zamknięte?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1937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Sprawdź .html — to metoda. Czego jej brakuje, aby została wywołana?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podstawy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Najważniejsze wnioski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08176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to biblioteka JavaScript ułatwiająca pracę z elementami HTML.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9572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40864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Podstawowa składnia: $(selektor).metoda();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32841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27355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Selektory: znacznik, .klasa, #id, [atrybut] — oraz ich łączenie i zagnieżdżanie.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6110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2062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.text() — czysty tekst,  .html() — kod HTML,  .val() — wartość pola formularza,  .attr() — atrybut elementu.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519379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3892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jQuery umieszczamy w $(document).ready(...), by działał na już wczytanej stronie.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podstawy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Gdzie szukać więcej informacji?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DCEEF6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630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api.jquery.com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288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Oficjalna dokumentacja metod jQuery — pełny, wiarygodny opis każdej funkcji.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DCEEF6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862072"/>
            <a:ext cx="548640" cy="54864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62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6974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jquery.com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0632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Strona projektu — informacje o wersjach i sposobach instalacji.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DCEE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096512"/>
            <a:ext cx="548640" cy="54864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096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9319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w3schools.com/jquery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29768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Przystępny kurs z interaktywnymi przykładami do samodzielnych prób.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2A9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Pamiętaj: </a:t>
            </a:r>
            <a:r>
              <a:rPr lang="en-US" sz="140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trakcie egzaminu INF.04 nie masz dostępu do internetu — najważniejsze metody i selektory warto przećwiczyć wcześniej i zapamiętać.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podstawy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1320</Words>
  <Application>Microsoft Office PowerPoint</Application>
  <PresentationFormat>Niestandardowy</PresentationFormat>
  <Paragraphs>234</Paragraphs>
  <Slides>17</Slides>
  <Notes>17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18" baseType="lpstr"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Tomasz Majchrzak</cp:lastModifiedBy>
  <cp:revision>11</cp:revision>
  <dcterms:created xsi:type="dcterms:W3CDTF">2026-09-17T08:45:23Z</dcterms:created>
  <dcterms:modified xsi:type="dcterms:W3CDTF">2026-09-24T07:04:26Z</dcterms:modified>
  <cp:contentStatus>Wersja ostateczna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