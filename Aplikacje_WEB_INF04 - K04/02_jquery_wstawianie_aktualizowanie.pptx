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-396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17496-89F7-4B75-801D-51F0E157FD5F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83F9F-0596-4479-BBC5-4606A1A3FB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464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F2A93B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052560" y="429768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0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Broadway" panose="04040905080B02020502" pitchFamily="82" charset="0"/>
                <a:ea typeface="Cambria" pitchFamily="34" charset="-122"/>
                <a:cs typeface="Cambria" pitchFamily="34" charset="-120"/>
              </a:rPr>
              <a:t>jQuery</a:t>
            </a:r>
            <a:endParaRPr lang="en-US" sz="5000" dirty="0">
              <a:latin typeface="Broadway" panose="04040905080B02020502" pitchFamily="82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A93B"/>
                </a:solidFill>
                <a:latin typeface="Berlin Sans FB Demi" panose="020E0802020502020306" pitchFamily="34" charset="0"/>
                <a:ea typeface="Cambria" pitchFamily="34" charset="-122"/>
                <a:cs typeface="Cambria" pitchFamily="34" charset="-120"/>
              </a:rPr>
              <a:t>Wstawianie i aktualizowanie elementów</a:t>
            </a:r>
            <a:endParaRPr lang="en-US" sz="3000" dirty="0">
              <a:latin typeface="Berlin Sans FB Demi" panose="020E0802020502020306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DC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Tworzenie nowej zawartości, wstawianie jej w dokument oraz aktualizowanie stylów, klas i atrybutów elementów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502920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Materiały do zajęć  ·  kwalifikacja INF.04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zajęć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Tworzenie nowej zawartości HTML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45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jako tekst (string) lub obiekt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14884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Wstawianie elementów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4688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append(), prepend(), before(), after()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97180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Odwrotny zapis wstawiania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2918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appendTo(), prependTo(), insertBefore(), insertAfter()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79476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Aktualizowanie stylu, klas i atrybutów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14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css(), addClass()/removeClass()/toggleClass(), attr(), prop()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61772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Łączenie metod i usuwanie elementów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9377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chaining, remove(), empty()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486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544068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praktyczne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7607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Samodzielna praca z kodem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wstawianie i aktualizowanie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Tworzenie nowej zawartości HTML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Nową zawartość HTML tworzymy najczęściej jako zwykły </a:t>
            </a: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ciąg tekstowy (string)</a:t>
            </a:r>
            <a:r>
              <a:rPr lang="en-US" sz="16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możemy zapisać go w zmiennej albo przekazać bezpośrednio do metody wstawiającej.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221992"/>
            <a:ext cx="10607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nowyElement = "&lt;li&gt;Śliwki&lt;/li&gt;";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 bezpośrednio w wywołaniu metody: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3776472"/>
            <a:ext cx="10607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$("#lista").append("&lt;li&gt;Śliwki&lt;/li&gt;");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DCEE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Pamiętaj: </a:t>
            </a:r>
            <a:r>
              <a:rPr lang="en-US" sz="14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tekście HTML muszą się znaleźć poprawne znaczniki otwierające i zamykające — literówka lub brak znacznika zamykającego to jeden z najczęstszych błędów przy tej technice.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wstawianie i aktualizowanie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Wstawianie do wewnątrz: .append() i .prepend()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10607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 id="lista"&gt;&lt;li&gt;Jabłka&lt;/li&gt;&lt;li&gt;Gruszki&lt;/li&gt;&lt;/ul&gt;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DCEE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.append()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Wstawia nową treść na </a:t>
            </a:r>
            <a:r>
              <a:rPr lang="en-US" sz="13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KONIEC</a:t>
            </a: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jako ostatnie dziecko wybranego elementu.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4846320" cy="1600200"/>
          </a:xfrm>
          <a:prstGeom prst="roundRect">
            <a:avLst>
              <a:gd name="adj" fmla="val 4571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51560" y="3685032"/>
            <a:ext cx="43891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$("#lista")
   .append("&lt;li&gt;Śliwki&lt;/li&gt;");
</a:t>
            </a:r>
            <a:r>
              <a:rPr lang="en-US" sz="130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Jabłka, Gruszki, Śliwki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DCEE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377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.prepend()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Wstawia nową treść na </a:t>
            </a:r>
            <a:r>
              <a:rPr lang="en-US" sz="13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POCZĄTEK</a:t>
            </a: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jako pierwsze dziecko wybranego elementu.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92240" y="3520440"/>
            <a:ext cx="4846320" cy="1600200"/>
          </a:xfrm>
          <a:prstGeom prst="roundRect">
            <a:avLst>
              <a:gd name="adj" fmla="val 4571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20840" y="3685032"/>
            <a:ext cx="43891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$("#lista")
   .prepend("&lt;li&gt;Truskawki&lt;/li&gt;");
</a:t>
            </a:r>
            <a:r>
              <a:rPr lang="en-US" sz="130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Truskawki, Jabłka, Gruszki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wstawianie i aktualizowanie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Wstawianie poza elementem: .before() i .after()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10607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 id="lista"&gt;&lt;li&gt;Jabłka&lt;/li&gt;&lt;li&gt;Gruszki&lt;/li&gt;&lt;/ul&gt;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DCEE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.before()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Wstawia treść bezpośrednio </a:t>
            </a:r>
            <a:r>
              <a:rPr lang="en-US" sz="13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</a:t>
            </a: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wybranym </a:t>
            </a:r>
            <a:r>
              <a:rPr lang="en-US" sz="1350" dirty="0" err="1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elementem</a:t>
            </a: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l-PL" sz="1350" dirty="0" smtClean="0">
              <a:solidFill>
                <a:srgbClr val="1623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50" dirty="0" smtClean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jako sąsiad, poza nim.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51560" y="3685032"/>
            <a:ext cx="4389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$("#lista")
   .before("&lt;h2&gt;Owoce&lt;/h2&gt;");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DCEE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377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.after()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Wstawia treść bezpośrednio </a:t>
            </a:r>
            <a:r>
              <a:rPr lang="en-US" sz="13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wybranym </a:t>
            </a:r>
            <a:r>
              <a:rPr lang="en-US" sz="1350" dirty="0" err="1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elemencie</a:t>
            </a: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l-PL" sz="1350" dirty="0" smtClean="0">
              <a:solidFill>
                <a:srgbClr val="1623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50" dirty="0" smtClean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jako sąsiad, poza nim.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92240" y="352044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20840" y="3685032"/>
            <a:ext cx="4389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$("#lista")
   .after("&lt;p&gt;Koniec listy&lt;/p&gt;");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wstawianie i aktualizowanie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Cztery metody wstawiania — porównanie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420624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before()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206240" cy="2103120"/>
          </a:xfrm>
          <a:prstGeom prst="roundRect">
            <a:avLst>
              <a:gd name="adj" fmla="val 2609"/>
            </a:avLst>
          </a:prstGeom>
          <a:solidFill>
            <a:srgbClr val="0B3D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 id="lista"&gt;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3931920" cy="320040"/>
          </a:xfrm>
          <a:prstGeom prst="rect">
            <a:avLst/>
          </a:prstGeom>
          <a:solidFill>
            <a:srgbClr val="F2A93B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prepend()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8716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&lt;li&gt;Jabłka&lt;/li&gt;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&lt;li&gt;Gruszki&lt;/li&gt;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27248"/>
            <a:ext cx="3931920" cy="320040"/>
          </a:xfrm>
          <a:prstGeom prst="rect">
            <a:avLst/>
          </a:prstGeom>
          <a:solidFill>
            <a:srgbClr val="F2A93B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append()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20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886200"/>
            <a:ext cx="420624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after()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4348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Kolor jasny = </a:t>
            </a:r>
            <a:r>
              <a:rPr lang="en-US" sz="1050" b="1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WEWNĄTRZ</a:t>
            </a:r>
            <a:r>
              <a:rPr lang="en-US" sz="10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elementu   ·   Kolor ciemny = </a:t>
            </a:r>
            <a:r>
              <a:rPr lang="en-US" sz="1050" b="1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POZA</a:t>
            </a:r>
            <a:r>
              <a:rPr lang="en-US" sz="10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elementem (sąsiad)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234440"/>
          <a:ext cx="6400800" cy="352044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1920240"/>
              </a:tblGrid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Metoda</a:t>
                      </a:r>
                      <a:endParaRPr lang="en-US" sz="1350" dirty="0"/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Gdzie umieszcza treść</a:t>
                      </a:r>
                      <a:endParaRPr lang="en-US" sz="1350" dirty="0"/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Względem elementu</a:t>
                      </a:r>
                      <a:endParaRPr lang="en-US" sz="1350" dirty="0"/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.append()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jako ostatnie dziecko</a:t>
                      </a:r>
                      <a:endParaRPr lang="en-US" sz="1350" dirty="0"/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wewnątrz</a:t>
                      </a:r>
                      <a:endParaRPr lang="en-US" sz="1350" dirty="0"/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.prepend()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jako pierwsze dziecko</a:t>
                      </a:r>
                      <a:endParaRPr lang="en-US" sz="1350" dirty="0"/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wewnątrz</a:t>
                      </a:r>
                      <a:endParaRPr lang="en-US" sz="1350" dirty="0"/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.before()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jako element bezpośrednio przed</a:t>
                      </a:r>
                      <a:endParaRPr lang="en-US" sz="1350" dirty="0"/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poza (sąsiad)</a:t>
                      </a:r>
                      <a:endParaRPr lang="en-US" sz="1350" dirty="0"/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62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.after()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jako element bezpośrednio po</a:t>
                      </a:r>
                      <a:endParaRPr lang="en-US" sz="1350" dirty="0"/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2B"/>
                          </a:solidFill>
                        </a:rPr>
                        <a:t>poza (sąsiad)</a:t>
                      </a:r>
                      <a:endParaRPr lang="en-US" sz="1350" dirty="0"/>
                    </a:p>
                  </a:txBody>
                  <a:tcPr marL="88900" marR="88900" marT="63500" marB="63500" anchor="ctr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wstawianie i aktualizowanie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Odwrotny zapis: appendTo(), prependTo()...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każdej z czterech metod istnieje „</a:t>
            </a:r>
            <a:r>
              <a:rPr lang="en-US" sz="14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odwrócona</a:t>
            </a:r>
            <a:r>
              <a:rPr lang="en-US" sz="14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wersja — najpierw wskazujemy nowy element, a potem miejsce docelowe: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476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8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$("#lista").append("&lt;li&gt;Śliwki&lt;/li&gt;");</a:t>
            </a:r>
            <a:endParaRPr lang="en-US" sz="118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189280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19476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8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$("&lt;li&gt;Śliwki&lt;/li&gt;").appendTo("#lista");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7249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8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$("#lista").prepend("&lt;li&gt;Truskawki&lt;/li&gt;");</a:t>
            </a:r>
            <a:endParaRPr lang="en-US" sz="118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67004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2560320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83680" y="2724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8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$("&lt;li&gt;Truskawki&lt;/li&gt;").prependTo("#lista");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35021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8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$("#lista").before("&lt;h2&gt;Owoce&lt;/h2&gt;");</a:t>
            </a:r>
            <a:endParaRPr lang="en-US" sz="118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344728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55080" y="3337560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83680" y="35021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8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$("&lt;h2&gt;Owoce&lt;/h2&gt;").insertBefore("#lista");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" y="42793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8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$("#lista").after("&lt;p&gt;Koniec&lt;/p&gt;");</a:t>
            </a:r>
            <a:endParaRPr lang="en-US" sz="118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422452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55080" y="4114800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583680" y="42793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8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$("&lt;p&gt;Koniec&lt;/p&gt;").insertAfter("#lista");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B3D5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1663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sam efekt, inny punkt wyjścia: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zależy od tego, co jest w kodzie „głównym bohaterem” </a:t>
            </a:r>
            <a:endParaRPr lang="pl-PL" sz="1350" dirty="0" smtClean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istniejący element ($("#lista")) czy nowo tworzony element ($("&lt;li&gt;...&lt;/li&gt;")).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wstawianie i aktualizowanie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Aktualizowanie stylu — .css()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DCEE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2710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.css("właściwość")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271016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odczytuje wartość stylu (np. aktualny kolor tła)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DCEE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4825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.css("właściwość", "wartość")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048256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ustawia jedną właściwość stylu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DCEE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2549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.css({ ... })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825496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ustawia wiele właściwości na raz (obiekt)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685032"/>
            <a:ext cx="106070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$("#panel").css("background-color", "lightyellow");
$("#panel").css({ color: "navy", fontWeight: "bold" });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DCEE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Uwaga: </a:t>
            </a:r>
            <a:r>
              <a:rPr lang="en-US" sz="14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nazwy właściwości CSS z myślnikiem (np. </a:t>
            </a:r>
            <a:r>
              <a:rPr lang="en-US" sz="1400" i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background-color</a:t>
            </a:r>
            <a:r>
              <a:rPr lang="en-US" sz="14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w zapisie obiektowym JS piszemy w formacie camelCase: </a:t>
            </a:r>
            <a:r>
              <a:rPr lang="en-US" sz="140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backgroundColor</a:t>
            </a:r>
            <a:r>
              <a:rPr lang="en-US" sz="14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wstawianie i aktualizowanie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Aktualizowanie klas — add/remove/toggleClass()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DCEE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2710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.addClass("nazwa")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271016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dodaje klasę CSS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DCEE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4825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.removeClass("nazwa")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048256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usuwa klasę CSS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DCEE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2549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.toggleClass("nazwa")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825496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dodaje klasę, jeśli jej nie ma; usuwa, jeśli już jest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685032"/>
            <a:ext cx="106070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$("#btn").addClass("aktywny");
$("#btn").removeClass("nieaktywny");
$("#okno").toggleClass("widoczny");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DCEE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 smtClean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.toggleClass("nazwa", true/false)</a:t>
            </a: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pozwala wymusić dodanie (</a:t>
            </a:r>
            <a:r>
              <a:rPr lang="en-US" sz="13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lub usunięcie (</a:t>
            </a:r>
            <a:r>
              <a:rPr lang="en-US" sz="135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350" dirty="0" err="1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</a:t>
            </a: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l-PL" sz="1350" dirty="0" smtClean="0">
              <a:solidFill>
                <a:srgbClr val="1623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dirty="0" smtClean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przydatne, gdy chcemy ustawić konkretny stan, a nie tylko „przełączyć”.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wstawianie i aktualizowanie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Aktualizowanie atrybutów i wartości pól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DCEE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27101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.attr("nazwa", "wartość")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127101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zmienia atrybut HTML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DCEE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482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.val("wartość")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04825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zmienia wartość pola formularza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DCEE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2549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.prop("nazwa", true/false)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82549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zmienia właściwość logiczną (np. checked, disabled)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685032"/>
            <a:ext cx="106070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$("#logo").attr("src", "nowe.png");
$("#pole").val("");
$("#zgoda").prop("checked", true);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B3D59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5468112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468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3949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Zapamiętaj: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zaznaczania/odznaczania pól typu checkbox lub radio używaj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.prop()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nie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.attr() </a:t>
            </a:r>
            <a:endParaRPr lang="pl-PL" sz="1350" b="1" dirty="0" smtClean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pl-PL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pl-PL" sz="13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3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dokładniej odwzorowuje aktualny stan elementu.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wstawianie i aktualizowanie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Łączenie metod w łańcuch (chaining)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Większość metod jQuery zwraca ten sam obiekt jQuery, na którym została </a:t>
            </a:r>
            <a:r>
              <a:rPr lang="en-US" sz="1500" dirty="0" err="1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wywołana</a:t>
            </a:r>
            <a:r>
              <a:rPr lang="en-US" sz="15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l-PL" sz="1500" dirty="0" smtClean="0">
              <a:solidFill>
                <a:srgbClr val="1623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dirty="0" smtClean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5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dzięki temu można „łączyć” wywołania w jeden łańcuch.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130552"/>
            <a:ext cx="106070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$("#lista")
    .append("&lt;li&gt;Śliwki&lt;/li&gt;")
    .addClass("zaktualizowana")
    .css("border", "1px solid green");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DCEE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343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to czytać? </a:t>
            </a:r>
            <a:r>
              <a:rPr lang="en-US" sz="14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czytamy „z góry na dół” — najpierw wybieramy #lista, potem dodajemy do niej nowy element, następnie dodajemy klasę CSS, a na końcu zmieniamy obramowanie. Każda kolejna metoda działa na wyniku poprzedniej.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wstawianie i aktualizowanie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Dodatkowo: usuwanie elementów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DCEE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.remove()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Usuwa wybrany element razem z jego zawartością CAŁKOWICIE z dokumentu.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51560" y="2770632"/>
            <a:ext cx="4389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$("#lista li:last").remove();
</a:t>
            </a:r>
            <a:r>
              <a:rPr lang="en-US" sz="130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usuwa ostatni element listy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23444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DCEE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417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.empty()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8745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Usuwa tylko zawartość (dzieci) elementu — sam element ZOSTAJE w dokumencie.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92240" y="260604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720840" y="2770632"/>
            <a:ext cx="4389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$("#panel").empty();
</a:t>
            </a:r>
            <a:r>
              <a:rPr lang="en-US" sz="130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panel zostaje, jest puste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wstawianie i aktualizowanie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Ćwiczenie 1 — dopasuj metodę wstawiania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307592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 id="lista"&gt;
  &lt;li&gt;Jabłka&lt;/li&gt;
  &lt;li&gt;Gruszki&lt;/li&gt;
&lt;/ul&gt;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143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Jaką metodą dodasz: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DCEE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6550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„Śliwki” na końcu listy, wewnątrz &lt;ul&gt;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28600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DCEE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3408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„Truskawki” na początku listy, wewnątrz &lt;ul&gt;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97180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DCEE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30266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&lt;h2&gt;Owoce&lt;/h2&gt; przed całą listą (poza &lt;ul&gt;)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365760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DCEE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37124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&lt;p&gt;Stan na dziś&lt;/p&gt; po całej liście (poza &lt;ul&gt;)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5146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Napisz zarówno wersję z append/prepend/before/after, jak i wersję odwrotną (appendTo itd.).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wstawianie i aktualizowanie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Ćwiczenie 2 — wstaw i zaktualizuj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307592"/>
            <a:ext cx="50292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id="panel" class="ukryty"
     style="background-color:
     white;"&gt;&lt;/div&gt;
&lt;ul id="lista"&gt;&lt;li&gt;Pozycja 1&lt;/li&gt;&lt;/ul&gt;
&lt;button id="btn"&gt;Zapisz&lt;/button&gt;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143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Napisz kod jQuery, który: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DCEE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60934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doda „&lt;li&gt;Pozycja 2&lt;/li&gt;” na końcu listy #lista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267712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DCEE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322576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zmieni kolor tła #panel na „lightyellow”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98094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DCEE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3035808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doda klasę „aktywny” do przycisku #btn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3694176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DCEE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3749040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przełączy klasę „ukryty” na elemencie #panel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wstawianie i aktualizowanie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Ćwiczenie 3 — znajdź błędy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poniższych trzech liniach kodu jQuery jest po jednym błędzie. Znajdź je i zapisz poprawną wersję.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3293D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19072"/>
            <a:ext cx="10607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$("#lista".append("&lt;li&gt;Nowy&lt;/li&gt;");
$("#panel").css(color, "red");
$("#lista")removeClass("stara");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E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49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Wskazówki: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Linia 1: sprawdź, gdzie kończy się selektor $("#lista") a gdzie zaczyna wywołanie .append().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6360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Linia 2: parametr metody .css() to nazwa właściwości — w jakiej postaci powinien być zapisany?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11149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Linia 3: czy między wynikiem selektora a nazwą metody nie brakuje jakiegoś znaku?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wstawianie i aktualizowanie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Najważniejsze wnioski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2527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Nową treść HTML tworzymy jako string i wstawiamy metodami: append(), prepend(), before(), after().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67128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167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093976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append()/prepend() wstawiają WEWNĄTRZ elementu, before()/after() — POZA nim (jako sąsiad).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008376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008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935224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Odwrotny zapis (appendTo, prependTo, insertBefore, insertAfter) daje ten sam efekt z innym punktem wyjścia.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49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7647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 aktualizujemy przez .css(), klasy przez addClass()/removeClass()/toggleClass(), a atrybuty i wartości przez .attr()/.val()/.prop().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690872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690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6177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Metody można łączyć w łańcuch — każda kolejna działa na wyniku poprzedniej.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5532120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5532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45896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remove() usuwa element całkowicie, empty() czyści tylko jego zawartość.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wstawianie i aktualizowanie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Gdzie szukać więcej informacji?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DCEEF6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27632"/>
            <a:ext cx="548640" cy="54864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4630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api.jquery.com/category/manipulation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288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Oficjalna dokumentacja metod wstawiania i aktualizowania elementów.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DCEEF6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862072"/>
            <a:ext cx="548640" cy="54864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62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6974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api.jquery.com/category/css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0632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Dokumentacja metod css(), addClass(), removeClass(), toggleClass().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DCEEF6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096512"/>
            <a:ext cx="548640" cy="54864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096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9319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w3schools.com/jquery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29768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Przystępny kurs z interaktywnymi przykładami do samodzielnych prób.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2A9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Pamiętaj: </a:t>
            </a:r>
            <a:r>
              <a:rPr lang="en-US" sz="140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trakcie egzaminu INF.04 nie masz dostępu do internetu — metody wstawiania i aktualizowania elementów warto przećwiczyć wcześniej i zapamiętać.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wstawianie i aktualizowanie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1433</Words>
  <Application>Microsoft Office PowerPoint</Application>
  <PresentationFormat>Niestandardowy</PresentationFormat>
  <Paragraphs>226</Paragraphs>
  <Slides>17</Slides>
  <Notes>17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17</vt:i4>
      </vt:variant>
    </vt:vector>
  </HeadingPairs>
  <TitlesOfParts>
    <vt:vector size="18" baseType="lpstr"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Tomasz Majchrzak</cp:lastModifiedBy>
  <cp:revision>8</cp:revision>
  <dcterms:created xsi:type="dcterms:W3CDTF">2026-09-17T09:28:28Z</dcterms:created>
  <dcterms:modified xsi:type="dcterms:W3CDTF">2026-09-24T07:04:45Z</dcterms:modified>
  <cp:contentStatus>Wersja ostateczna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